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4D4D"/>
                </a:solidFill>
              </a:rPr>
              <a:t>HowTune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0A0B0"/>
                </a:solidFill>
              </a:rPr>
              <a:t>音楽は、どう聴くかだ。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0A0B0"/>
                </a:solidFill>
              </a:rPr>
              <a:t>Engineer Guild Hackathon 2026/05 — Team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アジェンダ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1672" cy="9144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400" b="1">
                <a:solidFill>
                  <a:srgbClr val="FFFFFF"/>
                </a:solidFill>
              </a:rPr>
              <a:t>1.  課題 — なぜ偏愛は伝わらないのか</a:t>
            </a:r>
          </a:p>
          <a:p>
            <a:pPr>
              <a:spcBef>
                <a:spcPts val="200"/>
              </a:spcBef>
            </a:pPr>
            <a:r>
              <a:rPr sz="2400" b="0">
                <a:solidFill>
                  <a:srgbClr val="A0A0B0"/>
                </a:solidFill>
              </a:rPr>
              <a:t>2.  解決策 — 歌詞 × How でつながる</a:t>
            </a:r>
          </a:p>
          <a:p>
            <a:pPr>
              <a:spcBef>
                <a:spcPts val="200"/>
              </a:spcBef>
            </a:pPr>
            <a:r>
              <a:rPr sz="2400" b="0">
                <a:solidFill>
                  <a:srgbClr val="A0A0B0"/>
                </a:solidFill>
              </a:rPr>
              <a:t>3.  プロダクト体験 — コアフロー</a:t>
            </a:r>
          </a:p>
          <a:p>
            <a:pPr>
              <a:spcBef>
                <a:spcPts val="200"/>
              </a:spcBef>
            </a:pPr>
            <a:r>
              <a:rPr sz="2400" b="0">
                <a:solidFill>
                  <a:srgbClr val="A0A0B0"/>
                </a:solidFill>
              </a:rPr>
              <a:t>4.  技術スタック</a:t>
            </a:r>
          </a:p>
          <a:p>
            <a:pPr>
              <a:spcBef>
                <a:spcPts val="200"/>
              </a:spcBef>
            </a:pPr>
            <a:r>
              <a:rPr sz="2400" b="0">
                <a:solidFill>
                  <a:srgbClr val="A0A0B0"/>
                </a:solidFill>
              </a:rPr>
              <a:t>5.  MVP スコープ・今後の展望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音楽の「好き」は伝わらない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1672" cy="9144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A0B0"/>
                </a:solidFill>
              </a:rPr>
              <a:t>今のプラットフォームでは What（何を聴くか）しか共有できない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200" b="0">
                <a:solidFill>
                  <a:srgbClr val="FFFFFF"/>
                </a:solidFill>
              </a:rPr>
              <a:t>同じ曲を好きでも、楽しみ方は人それぞれ：</a:t>
            </a:r>
          </a:p>
          <a:p>
            <a:pPr>
              <a:spcBef>
                <a:spcPts val="200"/>
              </a:spcBef>
            </a:pPr>
            <a:r>
              <a:rPr sz="22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2200" b="0">
                <a:solidFill>
                  <a:srgbClr val="A0A0B0"/>
                </a:solidFill>
              </a:rPr>
              <a:t>・歌詞の一節に心が止まる</a:t>
            </a:r>
          </a:p>
          <a:p>
            <a:pPr>
              <a:spcBef>
                <a:spcPts val="200"/>
              </a:spcBef>
            </a:pPr>
            <a:r>
              <a:rPr sz="2200" b="0">
                <a:solidFill>
                  <a:srgbClr val="A0A0B0"/>
                </a:solidFill>
              </a:rPr>
              <a:t>・ベースラインが体を動かす</a:t>
            </a:r>
          </a:p>
          <a:p>
            <a:pPr>
              <a:spcBef>
                <a:spcPts val="200"/>
              </a:spcBef>
            </a:pPr>
            <a:r>
              <a:rPr sz="2200" b="0">
                <a:solidFill>
                  <a:srgbClr val="A0A0B0"/>
                </a:solidFill>
              </a:rPr>
              <a:t>・サビ前の「溜め」で上がる</a:t>
            </a:r>
          </a:p>
          <a:p>
            <a:pPr>
              <a:spcBef>
                <a:spcPts val="200"/>
              </a:spcBef>
            </a:pPr>
            <a:r>
              <a:rPr sz="2200" b="0">
                <a:solidFill>
                  <a:srgbClr val="A0A0B0"/>
                </a:solidFill>
              </a:rPr>
              <a:t>・余韻にいつまでも浸る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212080" cy="2560320"/>
          </a:xfrm>
          <a:prstGeom prst="rect">
            <a:avLst/>
          </a:prstGeom>
          <a:solidFill>
            <a:srgbClr val="141420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4663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>その楽しみ方（How）を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FF4D4D"/>
                </a:solidFill>
              </a:rPr>
              <a:t>うまく言語化できない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だから共有できず、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FFFFFF"/>
                </a:solidFill>
              </a:rPr>
              <a:t>同じ聴き方の人と出会えない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ターゲット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1672" cy="9144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3200400"/>
          </a:xfrm>
          <a:prstGeom prst="rect">
            <a:avLst/>
          </a:prstGeom>
          <a:solidFill>
            <a:srgbClr val="141420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000" b="1">
                <a:solidFill>
                  <a:srgbClr val="FFFFFF"/>
                </a:solidFill>
              </a:rPr>
              <a:t>田中音（22歳）大学生 / 音楽好き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毎日1〜2時間音楽を聴く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「なぜ好きか」を説明できない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曲名以上の会話ができない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371600"/>
            <a:ext cx="5303520" cy="3200400"/>
          </a:xfrm>
          <a:prstGeom prst="rect">
            <a:avLst/>
          </a:prstGeom>
          <a:solidFill>
            <a:srgbClr val="141420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000" b="1">
                <a:solidFill>
                  <a:srgbClr val="FFFFFF"/>
                </a:solidFill>
              </a:rPr>
              <a:t>鈴木聴（28歳）社会人 / 音楽マニア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年500枚聴くヘビーリスナー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楽しみ方は言語化できる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FF4D4D"/>
                </a:solidFill>
              </a:rPr>
              <a:t>でも語れる相手がいない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B8FF"/>
                </a:solidFill>
              </a:rPr>
              <a:t>→ どちらも「同じ聴き方の人と出会えない」という共通課題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歌詞を「鏡」にする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1672" cy="9144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3474720"/>
          </a:xfrm>
          <a:prstGeom prst="rect">
            <a:avLst/>
          </a:prstGeom>
          <a:solidFill>
            <a:srgbClr val="141420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000" b="1">
                <a:solidFill>
                  <a:srgbClr val="A0A0B0"/>
                </a:solidFill>
              </a:rPr>
              <a:t>従来の音楽 SNS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What 中心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曲・アーティスト・ジャンル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再生回数・いいね数が価値の指標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371600"/>
            <a:ext cx="5303520" cy="3474720"/>
          </a:xfrm>
          <a:prstGeom prst="rect">
            <a:avLst/>
          </a:prstGeom>
          <a:solidFill>
            <a:srgbClr val="141420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000" b="1">
                <a:solidFill>
                  <a:srgbClr val="FF4D4D"/>
                </a:solidFill>
              </a:rPr>
              <a:t>HowTune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4D4D"/>
                </a:solidFill>
              </a:rPr>
              <a:t>How 中心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FFFFFF"/>
                </a:solidFill>
              </a:rPr>
              <a:t>この歌詞の、ここで、どう感じたか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「1:18 のあの一節が刺さった」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が価値の指標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A0A0B0"/>
                </a:solidFill>
              </a:rPr>
              <a:t>音楽の熱狂が本当に伝わるのは「どう聴いているか」が共有されたとき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AI は「断定」しない — 鏡であること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1672" cy="9144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3200400"/>
          </a:xfrm>
          <a:prstGeom prst="rect">
            <a:avLst/>
          </a:prstGeom>
          <a:solidFill>
            <a:srgbClr val="141420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000" b="1">
                <a:solidFill>
                  <a:srgbClr val="FF6666"/>
                </a:solidFill>
              </a:rPr>
              <a:t>❌  断定する AI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あなたはここで感動しました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あなたはベースが好きです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→ 断定は対話を閉じる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371600"/>
            <a:ext cx="5303520" cy="3200400"/>
          </a:xfrm>
          <a:prstGeom prst="rect">
            <a:avLst/>
          </a:prstGeom>
          <a:solidFill>
            <a:srgbClr val="141420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000" b="1">
                <a:solidFill>
                  <a:srgbClr val="3DB8FF"/>
                </a:solidFill>
              </a:rPr>
              <a:t>✅  HowTune の AI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>ここで反応していましたね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>リズムに乗っていた感じ？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>それとも歌詞が刺さった？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3DB8FF"/>
                </a:solidFill>
              </a:rPr>
              <a:t>→ 問いかけが言語化を引き出す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A0A0B0"/>
                </a:solidFill>
              </a:rPr>
              <a:t>センサーは事実を捉える。AI は断面を差し出す。意味はユーザーが発見する。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コアフロー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1672" cy="9144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144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900" b="0">
                <a:solidFill>
                  <a:srgbClr val="FFFFFF"/>
                </a:solidFill>
              </a:rPr>
              <a:t>🎵  曲を選んで再生する</a:t>
            </a:r>
          </a:p>
          <a:p>
            <a:pPr>
              <a:spcBef>
                <a:spcPts val="200"/>
              </a:spcBef>
            </a:pPr>
            <a:r>
              <a:rPr sz="1900" b="0">
                <a:solidFill>
                  <a:srgbClr val="A0A0B0"/>
                </a:solidFill>
              </a:rPr>
              <a:t>       ↓</a:t>
            </a:r>
          </a:p>
          <a:p>
            <a:pPr>
              <a:spcBef>
                <a:spcPts val="200"/>
              </a:spcBef>
            </a:pPr>
            <a:r>
              <a:rPr sz="1900" b="0">
                <a:solidFill>
                  <a:srgbClr val="3DB8FF"/>
                </a:solidFill>
              </a:rPr>
              <a:t>📜  歌詞が時刻同期で流れる（Musixmatch API）</a:t>
            </a:r>
          </a:p>
          <a:p>
            <a:pPr>
              <a:spcBef>
                <a:spcPts val="200"/>
              </a:spcBef>
            </a:pPr>
            <a:r>
              <a:rPr sz="1900" b="0">
                <a:solidFill>
                  <a:srgbClr val="A0A0B0"/>
                </a:solidFill>
              </a:rPr>
              <a:t>       ↓</a:t>
            </a:r>
          </a:p>
          <a:p>
            <a:pPr>
              <a:spcBef>
                <a:spcPts val="200"/>
              </a:spcBef>
            </a:pPr>
            <a:r>
              <a:rPr sz="1900" b="1">
                <a:solidFill>
                  <a:srgbClr val="FFFFFF"/>
                </a:solidFill>
              </a:rPr>
              <a:t>👆  「この歌詞だ」とタップする</a:t>
            </a:r>
          </a:p>
          <a:p>
            <a:pPr>
              <a:spcBef>
                <a:spcPts val="200"/>
              </a:spcBef>
            </a:pPr>
            <a:r>
              <a:rPr sz="1900" b="0">
                <a:solidFill>
                  <a:srgbClr val="A0A0B0"/>
                </a:solidFill>
              </a:rPr>
              <a:t>       ↓</a:t>
            </a:r>
          </a:p>
          <a:p>
            <a:pPr>
              <a:spcBef>
                <a:spcPts val="200"/>
              </a:spcBef>
            </a:pPr>
            <a:r>
              <a:rPr sz="1900" b="0">
                <a:solidFill>
                  <a:srgbClr val="3DB8FF"/>
                </a:solidFill>
              </a:rPr>
              <a:t>🌊  Groove レベル（音量 × 盛り上がり）が自動記録</a:t>
            </a:r>
          </a:p>
          <a:p>
            <a:pPr>
              <a:spcBef>
                <a:spcPts val="200"/>
              </a:spcBef>
            </a:pPr>
            <a:r>
              <a:rPr sz="1900" b="0">
                <a:solidFill>
                  <a:srgbClr val="A0A0B0"/>
                </a:solidFill>
              </a:rPr>
              <a:t>       ↓</a:t>
            </a:r>
          </a:p>
          <a:p>
            <a:pPr>
              <a:spcBef>
                <a:spcPts val="200"/>
              </a:spcBef>
            </a:pPr>
            <a:r>
              <a:rPr sz="1900" b="0">
                <a:solidFill>
                  <a:srgbClr val="FFFFFF"/>
                </a:solidFill>
              </a:rPr>
              <a:t>💬  AI が歌詞と Groove を起点に問いかける</a:t>
            </a:r>
          </a:p>
          <a:p>
            <a:pPr>
              <a:spcBef>
                <a:spcPts val="200"/>
              </a:spcBef>
            </a:pPr>
            <a:r>
              <a:rPr sz="1900" b="0">
                <a:solidFill>
                  <a:srgbClr val="A0A0B0"/>
                </a:solidFill>
              </a:rPr>
              <a:t>       ↓</a:t>
            </a:r>
          </a:p>
          <a:p>
            <a:pPr>
              <a:spcBef>
                <a:spcPts val="200"/>
              </a:spcBef>
            </a:pPr>
            <a:r>
              <a:rPr sz="1900" b="1">
                <a:solidFill>
                  <a:srgbClr val="FF4D4D"/>
                </a:solidFill>
              </a:rPr>
              <a:t>🪪  対話が「Howカード」になる</a:t>
            </a:r>
          </a:p>
          <a:p>
            <a:pPr>
              <a:spcBef>
                <a:spcPts val="200"/>
              </a:spcBef>
            </a:pPr>
            <a:r>
              <a:rPr sz="1900" b="0">
                <a:solidFill>
                  <a:srgbClr val="A0A0B0"/>
                </a:solidFill>
              </a:rPr>
              <a:t>       ↓</a:t>
            </a:r>
          </a:p>
          <a:p>
            <a:pPr>
              <a:spcBef>
                <a:spcPts val="200"/>
              </a:spcBef>
            </a:pPr>
            <a:r>
              <a:rPr sz="1900" b="0">
                <a:solidFill>
                  <a:srgbClr val="FFFFFF"/>
                </a:solidFill>
              </a:rPr>
              <a:t>🤝  同じ歌詞に同じ How で反応した人と出会う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歌詞 × Groove インターフェース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1672" cy="9144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144000" cy="4114800"/>
          </a:xfrm>
          <a:prstGeom prst="rect">
            <a:avLst/>
          </a:prstGeom>
          <a:solidFill>
            <a:srgbClr val="141420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1554480"/>
            <a:ext cx="8412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</a:rPr>
              <a:t>▶  Blinding Lights — 1:18</a:t>
            </a:r>
          </a:p>
          <a:p>
            <a:pPr>
              <a:spcBef>
                <a:spcPts val="200"/>
              </a:spcBef>
            </a:pPr>
            <a:r>
              <a:rPr sz="2200" b="0">
                <a:solidFill>
                  <a:srgbClr val="3DB8FF"/>
                </a:solidFill>
              </a:rPr>
              <a:t>Groove 78%  ·  揺れ</a:t>
            </a:r>
          </a:p>
          <a:p>
            <a:pPr>
              <a:spcBef>
                <a:spcPts val="200"/>
              </a:spcBef>
            </a:pPr>
            <a:r>
              <a:rPr sz="2200" b="0">
                <a:solidFill>
                  <a:srgbClr val="303050"/>
                </a:solidFill>
              </a:rPr>
              <a:t>━━━━━━━━━━━━━━━━━━━━━━━━━━━━━━━━━━━━</a:t>
            </a:r>
          </a:p>
          <a:p>
            <a:pPr>
              <a:spcBef>
                <a:spcPts val="200"/>
              </a:spcBef>
            </a:pPr>
            <a:r>
              <a:rPr sz="22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2200" b="0">
                <a:solidFill>
                  <a:srgbClr val="FFFFFF"/>
                </a:solidFill>
              </a:rPr>
              <a:t>「 I said, ooh, I'm blinded by the lights 」</a:t>
            </a:r>
          </a:p>
          <a:p>
            <a:pPr>
              <a:spcBef>
                <a:spcPts val="200"/>
              </a:spcBef>
            </a:pPr>
            <a:r>
              <a:rPr sz="22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2200" b="0">
                <a:solidFill>
                  <a:srgbClr val="3DB8FF"/>
                </a:solidFill>
              </a:rPr>
              <a:t>💬 4 How        コメント        ✨ AIと深掘り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A0B0"/>
                </a:solidFill>
              </a:rPr>
              <a:t>→ 歌詞行をタップすると AI 対話が始まる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Howカード — 聴き方が、あなたを語る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1672" cy="9144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1371600"/>
            <a:ext cx="7589520" cy="4206240"/>
          </a:xfrm>
          <a:prstGeom prst="rect">
            <a:avLst/>
          </a:prstGeom>
          <a:solidFill>
            <a:srgbClr val="141420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51760" y="155448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🎵  Blinding Lights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FFFFFF"/>
                </a:solidFill>
              </a:rPr>
              <a:t>余韻に浸るリスナー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曲が終わっても世界に残り続けるタイプ。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サビの後の静寂に、一番の意味を感じている。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3DB8FF"/>
                </a:solidFill>
              </a:rPr>
              <a:t>#余韻派   #immersion   #afterglow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📍 1:18 — "ooh, I'm blinded by the lights"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A0B0"/>
                </a:solidFill>
              </a:rPr>
              <a:t>→ 同じ How の人 / 同じ歌詞に反応した人を表示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アーキテクチャ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1672" cy="9144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91672" cy="4389120"/>
          </a:xfrm>
          <a:prstGeom prst="rect">
            <a:avLst/>
          </a:prstGeom>
          <a:solidFill>
            <a:srgbClr val="141420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800" b="1">
                <a:solidFill>
                  <a:srgbClr val="FFFFFF"/>
                </a:solidFill>
              </a:rPr>
              <a:t>📱  iOS アプリ (SwiftUI / MusicKit)</a:t>
            </a:r>
          </a:p>
          <a:p>
            <a:pPr>
              <a:spcBef>
                <a:spcPts val="200"/>
              </a:spcBef>
            </a:pPr>
            <a:r>
              <a:rPr sz="1800" b="0">
                <a:solidFill>
                  <a:srgbClr val="A0A0B0"/>
                </a:solidFill>
              </a:rPr>
              <a:t>      HomeView [歌詞 + Groove]  /  HowChatView [AI 対話]</a:t>
            </a:r>
          </a:p>
          <a:p>
            <a:pPr>
              <a:spcBef>
                <a:spcPts val="200"/>
              </a:spcBef>
            </a:pPr>
            <a:r>
              <a:rPr sz="1800" b="0">
                <a:solidFill>
                  <a:srgbClr val="A0A0B0"/>
                </a:solidFill>
              </a:rPr>
              <a:t>                │  HTTPS / SSE</a:t>
            </a:r>
          </a:p>
          <a:p>
            <a:pPr>
              <a:spcBef>
                <a:spcPts val="200"/>
              </a:spcBef>
            </a:pPr>
            <a:r>
              <a:rPr sz="1800" b="0">
                <a:solidFill>
                  <a:srgbClr val="A0A0B0"/>
                </a:solidFill>
              </a:rPr>
              <a:t>                ▼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3DB8FF"/>
                </a:solidFill>
              </a:rPr>
              <a:t>☁️  backend (Node.js + Express)</a:t>
            </a:r>
          </a:p>
          <a:p>
            <a:pPr>
              <a:spcBef>
                <a:spcPts val="200"/>
              </a:spcBef>
            </a:pPr>
            <a:r>
              <a:rPr sz="1800" b="0">
                <a:solidFill>
                  <a:srgbClr val="A0A0B0"/>
                </a:solidFill>
              </a:rPr>
              <a:t>      POST /sessions/:id/chat  ← Claude API 中継</a:t>
            </a:r>
          </a:p>
          <a:p>
            <a:pPr>
              <a:spcBef>
                <a:spcPts val="200"/>
              </a:spcBef>
            </a:pPr>
            <a:r>
              <a:rPr sz="1800" b="0">
                <a:solidFill>
                  <a:srgbClr val="A0A0B0"/>
                </a:solidFill>
              </a:rPr>
              <a:t>      POST /sessions/:id/how-card  /  GET /how-cards</a:t>
            </a:r>
          </a:p>
          <a:p>
            <a:pPr>
              <a:spcBef>
                <a:spcPts val="200"/>
              </a:spcBef>
            </a:pPr>
            <a:r>
              <a:rPr sz="1800" b="0">
                <a:solidFill>
                  <a:srgbClr val="A0A0B0"/>
                </a:solidFill>
              </a:rPr>
              <a:t>                │</a:t>
            </a:r>
          </a:p>
          <a:p>
            <a:pPr>
              <a:spcBef>
                <a:spcPts val="200"/>
              </a:spcBef>
            </a:pPr>
            <a:r>
              <a:rPr sz="1800" b="0">
                <a:solidFill>
                  <a:srgbClr val="A0A0B0"/>
                </a:solidFill>
              </a:rPr>
              <a:t>                ▼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FFFFFF"/>
                </a:solidFill>
              </a:rPr>
              <a:t>🔥  Firestore   +   🤖  Claude API (claude-sonnet-4-6)</a:t>
            </a:r>
          </a:p>
          <a:p>
            <a:pPr>
              <a:spcBef>
                <a:spcPts val="200"/>
              </a:spcBef>
            </a:pPr>
            <a:r>
              <a:rPr sz="18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800" b="0">
                <a:solidFill>
                  <a:srgbClr val="A0A0B0"/>
                </a:solidFill>
              </a:rPr>
              <a:t>ai-recognition (Create ML / TF.js)  →  Core ML  →  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技術選定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1672" cy="9144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DB8FF"/>
                </a:solidFill>
              </a:rPr>
              <a:t>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SwiftUI + MusicKit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3716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0B0"/>
                </a:solidFill>
              </a:rPr>
              <a:t>ネイティブ必須（ADR-0001）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DB8FF"/>
                </a:solidFill>
              </a:rPr>
              <a:t>歌詞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745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Musixmatch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87451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0B0"/>
                </a:solidFill>
              </a:rPr>
              <a:t>時刻同期歌詞の取得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3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DB8FF"/>
                </a:solidFill>
              </a:rPr>
              <a:t>Groove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3774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音量 + 本体モーション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37743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0B0"/>
                </a:solidFill>
              </a:rPr>
              <a:t>AirPods 不要でデモできる（ADR-0005）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8035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DB8FF"/>
                </a:solidFill>
              </a:rPr>
              <a:t>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88035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Claude claude-sonnet-4-6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88035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0B0"/>
                </a:solidFill>
              </a:rPr>
              <a:t>バックエンド経由でキー秘匿（ADR-0002）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8327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DB8FF"/>
                </a:solidFill>
              </a:rPr>
              <a:t>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38327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Create ML → Core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38327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0B0"/>
                </a:solidFill>
              </a:rPr>
              <a:t>端末推論・学習データ蓄積（ADR-0003）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19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DB8FF"/>
                </a:solidFill>
              </a:rPr>
              <a:t>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88619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Firestore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88619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0B0"/>
                </a:solidFill>
              </a:rPr>
              <a:t>iOS SDK・リアルタイム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データフライホイール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1672" cy="9144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100" b="0">
                <a:solidFill>
                  <a:srgbClr val="FFFFFF"/>
                </a:solidFill>
              </a:rPr>
              <a:t>音量 + モーション  →  Groove レベル（今）</a:t>
            </a:r>
          </a:p>
          <a:p>
            <a:pPr>
              <a:spcBef>
                <a:spcPts val="200"/>
              </a:spcBef>
            </a:pPr>
            <a:r>
              <a:rPr sz="2100" b="0">
                <a:solidFill>
                  <a:srgbClr val="A0A0B0"/>
                </a:solidFill>
              </a:rPr>
              <a:t>    ↓  歌詞タップで文脈付き反応を記録</a:t>
            </a:r>
          </a:p>
          <a:p>
            <a:pPr>
              <a:spcBef>
                <a:spcPts val="200"/>
              </a:spcBef>
            </a:pPr>
            <a:r>
              <a:rPr sz="2100" b="0">
                <a:solidFill>
                  <a:srgbClr val="3DB8FF"/>
                </a:solidFill>
              </a:rPr>
              <a:t>AI 対話の回答  →  ラベル付きデータが蓄積</a:t>
            </a:r>
          </a:p>
          <a:p>
            <a:pPr>
              <a:spcBef>
                <a:spcPts val="200"/>
              </a:spcBef>
            </a:pPr>
            <a:r>
              <a:rPr sz="2100" b="0">
                <a:solidFill>
                  <a:srgbClr val="A0A0B0"/>
                </a:solidFill>
              </a:rPr>
              <a:t>    ↓</a:t>
            </a:r>
          </a:p>
          <a:p>
            <a:pPr>
              <a:spcBef>
                <a:spcPts val="200"/>
              </a:spcBef>
            </a:pPr>
            <a:r>
              <a:rPr sz="2100" b="0">
                <a:solidFill>
                  <a:srgbClr val="FFFFFF"/>
                </a:solidFill>
              </a:rPr>
              <a:t>Create ML で精度向上  →  より良い問いかけ</a:t>
            </a:r>
          </a:p>
          <a:p>
            <a:pPr>
              <a:spcBef>
                <a:spcPts val="200"/>
              </a:spcBef>
            </a:pPr>
            <a:r>
              <a:rPr sz="2100" b="0">
                <a:solidFill>
                  <a:srgbClr val="A0A0B0"/>
                </a:solidFill>
              </a:rPr>
              <a:t>    ↓</a:t>
            </a:r>
          </a:p>
          <a:p>
            <a:pPr>
              <a:spcBef>
                <a:spcPts val="200"/>
              </a:spcBef>
            </a:pPr>
            <a:r>
              <a:rPr sz="2100" b="1">
                <a:solidFill>
                  <a:srgbClr val="FF4D4D"/>
                </a:solidFill>
              </a:rPr>
              <a:t>より良い HowCard  →  より多くの共鳴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DB8FF"/>
                </a:solidFill>
              </a:rPr>
              <a:t>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645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ルールベース Groove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A0B0"/>
                </a:solidFill>
              </a:rPr>
              <a:t>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651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DB8FF"/>
                </a:solidFill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2651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学習モデル 32次元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2971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A0B0"/>
                </a:solidFill>
              </a:rPr>
              <a:t>〜6ヶ月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657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DB8FF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3657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個人最適化 128次元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9776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A0B0"/>
                </a:solidFill>
              </a:rPr>
              <a:t>〜1年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MVP スコープ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1672" cy="9144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4114800"/>
          </a:xfrm>
          <a:prstGeom prst="rect">
            <a:avLst/>
          </a:prstGeom>
          <a:solidFill>
            <a:srgbClr val="141420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000" b="1">
                <a:solidFill>
                  <a:srgbClr val="4DFF91"/>
                </a:solidFill>
              </a:rPr>
              <a:t>✅  作ったもの（P0）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>・曲再生 × MusicKit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>・時刻同期歌詞（Musixmatch）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>・歌詞タップ → AI 対話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>・Howカード生成・保存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>・Groove レベル表示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>・コミュニティ画面（ダミー）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371600"/>
            <a:ext cx="5303520" cy="4114800"/>
          </a:xfrm>
          <a:prstGeom prst="rect">
            <a:avLst/>
          </a:prstGeom>
          <a:solidFill>
            <a:srgbClr val="141420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000" b="1">
                <a:solidFill>
                  <a:srgbClr val="A0A0B0"/>
                </a:solidFill>
              </a:rPr>
              <a:t>🚫  スコープ外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・DM・フォロー・タイムライン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・Spotify 連携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・AirPods 必須のセンサー精度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・完全な認証フロー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A0A0B0"/>
                </a:solidFill>
              </a:rPr>
              <a:t>・歌詞コメントのリアルタイム同期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音楽は、どう聴くかだ。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A0A0B0"/>
                </a:solidFill>
              </a:rPr>
              <a:t>歌詞が、あなたの How を語り始める。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4D4D"/>
                </a:solidFill>
              </a:rPr>
              <a:t>HowTune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0A0B0"/>
                </a:solidFill>
              </a:rPr>
              <a:t>Team 10 — Engineer Guild Hackathon 2026/05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