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embeddedFontLst>
    <p:embeddedFont>
      <p:font typeface="Urbanist Light"/>
      <p:regular r:id="rId19"/>
      <p:bold r:id="rId20"/>
      <p:italic r:id="rId21"/>
      <p:boldItalic r:id="rId22"/>
    </p:embeddedFont>
    <p:embeddedFont>
      <p:font typeface="Urbanist SemiBold"/>
      <p:regular r:id="rId23"/>
      <p:bold r:id="rId24"/>
      <p:italic r:id="rId25"/>
      <p:boldItalic r:id="rId26"/>
    </p:embeddedFont>
    <p:embeddedFont>
      <p:font typeface="Urbanis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D2525E-79A3-4F8D-B454-6BD239A1ED6D}">
  <a:tblStyle styleId="{EED2525E-79A3-4F8D-B454-6BD239A1ED6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Light-bold.fntdata"/><Relationship Id="rId22" Type="http://schemas.openxmlformats.org/officeDocument/2006/relationships/font" Target="fonts/UrbanistLight-boldItalic.fntdata"/><Relationship Id="rId21" Type="http://schemas.openxmlformats.org/officeDocument/2006/relationships/font" Target="fonts/UrbanistLight-italic.fntdata"/><Relationship Id="rId24" Type="http://schemas.openxmlformats.org/officeDocument/2006/relationships/font" Target="fonts/UrbanistSemiBold-bold.fntdata"/><Relationship Id="rId23" Type="http://schemas.openxmlformats.org/officeDocument/2006/relationships/font" Target="fonts/Urbanist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UrbanistSemiBold-boldItalic.fntdata"/><Relationship Id="rId25" Type="http://schemas.openxmlformats.org/officeDocument/2006/relationships/font" Target="fonts/UrbanistSemiBold-italic.fntdata"/><Relationship Id="rId28" Type="http://schemas.openxmlformats.org/officeDocument/2006/relationships/font" Target="fonts/Urbanist-bold.fntdata"/><Relationship Id="rId27" Type="http://schemas.openxmlformats.org/officeDocument/2006/relationships/font" Target="fonts/Urbanis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rbanist-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Urbanis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UrbanistLight-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46e8e36e3_0_8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46e8e36e3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46e8e36e3_58_0)">
  <p:cSld name="Generated (g3e46e8e36e3_58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3.png"/><Relationship Id="rId9"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image" Target="../media/image31.png"/><Relationship Id="rId12" Type="http://schemas.openxmlformats.org/officeDocument/2006/relationships/image" Target="../media/image28.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8.png"/><Relationship Id="rId9" Type="http://schemas.openxmlformats.org/officeDocument/2006/relationships/image" Target="../media/image29.png"/><Relationship Id="rId5" Type="http://schemas.openxmlformats.org/officeDocument/2006/relationships/image" Target="../media/image26.png"/><Relationship Id="rId6" Type="http://schemas.openxmlformats.org/officeDocument/2006/relationships/image" Target="../media/image23.png"/><Relationship Id="rId7" Type="http://schemas.openxmlformats.org/officeDocument/2006/relationships/image" Target="../media/image20.png"/><Relationship Id="rId8"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3.pn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34.png"/><Relationship Id="rId7"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txBox="1"/>
          <p:nvPr/>
        </p:nvSpPr>
        <p:spPr>
          <a:xfrm>
            <a:off x="3941359" y="2114550"/>
            <a:ext cx="4309132" cy="2011560"/>
          </a:xfrm>
          <a:prstGeom prst="rect">
            <a:avLst/>
          </a:prstGeom>
          <a:noFill/>
          <a:ln>
            <a:noFill/>
          </a:ln>
        </p:spPr>
        <p:txBody>
          <a:bodyPr anchorCtr="0" anchor="t" bIns="0" lIns="0" spcFirstLastPara="1" rIns="0" wrap="square" tIns="0">
            <a:spAutoFit/>
          </a:bodyPr>
          <a:lstStyle/>
          <a:p>
            <a:pPr indent="0" lvl="0" marL="0" marR="0" rtl="0" algn="ctr">
              <a:lnSpc>
                <a:spcPct val="109986"/>
              </a:lnSpc>
              <a:spcBef>
                <a:spcPts val="0"/>
              </a:spcBef>
              <a:spcAft>
                <a:spcPts val="0"/>
              </a:spcAft>
              <a:buNone/>
            </a:pPr>
            <a:r>
              <a:rPr b="1" i="0" lang="en-US" sz="7200" u="none" cap="none" strike="noStrike">
                <a:solidFill>
                  <a:srgbClr val="FFFFFF"/>
                </a:solidFill>
                <a:latin typeface="Urbanist"/>
                <a:ea typeface="Urbanist"/>
                <a:cs typeface="Urbanist"/>
                <a:sym typeface="Urbanist"/>
              </a:rPr>
              <a:t>The Great</a:t>
            </a:r>
            <a:br>
              <a:rPr b="0" i="0" lang="en-US" sz="1800" u="none" cap="none" strike="noStrike">
                <a:solidFill>
                  <a:schemeClr val="dk1"/>
                </a:solidFill>
                <a:latin typeface="Calibri"/>
                <a:ea typeface="Calibri"/>
                <a:cs typeface="Calibri"/>
                <a:sym typeface="Calibri"/>
              </a:rPr>
            </a:br>
            <a:r>
              <a:rPr b="1" i="0" lang="en-US" sz="7200" u="none" cap="none" strike="noStrike">
                <a:solidFill>
                  <a:srgbClr val="0071E3"/>
                </a:solidFill>
                <a:latin typeface="Urbanist"/>
                <a:ea typeface="Urbanist"/>
                <a:cs typeface="Urbanist"/>
                <a:sym typeface="Urbanist"/>
              </a:rPr>
              <a:t>Inversion</a:t>
            </a:r>
            <a:endParaRPr/>
          </a:p>
        </p:txBody>
      </p:sp>
      <p:sp>
        <p:nvSpPr>
          <p:cNvPr id="87" name="Google Shape;87;p14"/>
          <p:cNvSpPr txBox="1"/>
          <p:nvPr/>
        </p:nvSpPr>
        <p:spPr>
          <a:xfrm>
            <a:off x="4043957" y="4316610"/>
            <a:ext cx="4103935"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A1A1A6"/>
                </a:solidFill>
                <a:latin typeface="Urbanist Light"/>
                <a:ea typeface="Urbanist Light"/>
                <a:cs typeface="Urbanist Light"/>
                <a:sym typeface="Urbanist Light"/>
              </a:rPr>
              <a:t>創造的エコシステムの再定義</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91" name="Shape 91"/>
        <p:cNvGrpSpPr/>
        <p:nvPr/>
      </p:nvGrpSpPr>
      <p:grpSpPr>
        <a:xfrm>
          <a:off x="0" y="0"/>
          <a:ext cx="0" cy="0"/>
          <a:chOff x="0" y="0"/>
          <a:chExt cx="0" cy="0"/>
        </a:xfrm>
      </p:grpSpPr>
      <p:grpSp>
        <p:nvGrpSpPr>
          <p:cNvPr id="92" name="Google Shape;92;p15"/>
          <p:cNvGrpSpPr/>
          <p:nvPr/>
        </p:nvGrpSpPr>
        <p:grpSpPr>
          <a:xfrm>
            <a:off x="6477000" y="1704975"/>
            <a:ext cx="3429000" cy="3438525"/>
            <a:chOff x="6477000" y="1704975"/>
            <a:chExt cx="3429000" cy="3438525"/>
          </a:xfrm>
        </p:grpSpPr>
        <p:sp>
          <p:nvSpPr>
            <p:cNvPr id="93" name="Google Shape;93;p15"/>
            <p:cNvSpPr/>
            <p:nvPr/>
          </p:nvSpPr>
          <p:spPr>
            <a:xfrm>
              <a:off x="6477000" y="1714500"/>
              <a:ext cx="3429000" cy="3429000"/>
            </a:xfrm>
            <a:prstGeom prst="rect">
              <a:avLst/>
            </a:prstGeom>
            <a:solidFill>
              <a:srgbClr val="000000">
                <a:alpha val="0"/>
              </a:srgbClr>
            </a:solidFill>
            <a:ln cap="flat" cmpd="sng" w="9525">
              <a:solidFill>
                <a:srgbClr val="22222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4" name="Google Shape;94;p15"/>
            <p:cNvPicPr preferRelativeResize="0"/>
            <p:nvPr/>
          </p:nvPicPr>
          <p:blipFill rotWithShape="1">
            <a:blip r:embed="rId3">
              <a:alphaModFix/>
            </a:blip>
            <a:srcRect b="0" l="0" r="0" t="0"/>
            <a:stretch/>
          </p:blipFill>
          <p:spPr>
            <a:xfrm>
              <a:off x="6657975" y="1704975"/>
              <a:ext cx="2486100" cy="3062400"/>
            </a:xfrm>
            <a:prstGeom prst="rect">
              <a:avLst/>
            </a:prstGeom>
            <a:noFill/>
            <a:ln>
              <a:noFill/>
            </a:ln>
          </p:spPr>
        </p:pic>
        <p:pic>
          <p:nvPicPr>
            <p:cNvPr id="95" name="Google Shape;95;p15"/>
            <p:cNvPicPr preferRelativeResize="0"/>
            <p:nvPr/>
          </p:nvPicPr>
          <p:blipFill rotWithShape="1">
            <a:blip r:embed="rId4">
              <a:alphaModFix/>
            </a:blip>
            <a:srcRect b="0" l="0" r="0" t="0"/>
            <a:stretch/>
          </p:blipFill>
          <p:spPr>
            <a:xfrm>
              <a:off x="7762875" y="1714500"/>
              <a:ext cx="857400" cy="952500"/>
            </a:xfrm>
            <a:prstGeom prst="rect">
              <a:avLst/>
            </a:prstGeom>
            <a:noFill/>
            <a:ln>
              <a:noFill/>
            </a:ln>
          </p:spPr>
        </p:pic>
        <p:pic>
          <p:nvPicPr>
            <p:cNvPr id="96" name="Google Shape;96;p15"/>
            <p:cNvPicPr preferRelativeResize="0"/>
            <p:nvPr/>
          </p:nvPicPr>
          <p:blipFill rotWithShape="1">
            <a:blip r:embed="rId5">
              <a:alphaModFix/>
            </a:blip>
            <a:srcRect b="0" l="0" r="0" t="0"/>
            <a:stretch/>
          </p:blipFill>
          <p:spPr>
            <a:xfrm>
              <a:off x="7334250" y="2714625"/>
              <a:ext cx="1714500" cy="952500"/>
            </a:xfrm>
            <a:prstGeom prst="rect">
              <a:avLst/>
            </a:prstGeom>
            <a:noFill/>
            <a:ln>
              <a:noFill/>
            </a:ln>
          </p:spPr>
        </p:pic>
        <p:pic>
          <p:nvPicPr>
            <p:cNvPr id="97" name="Google Shape;97;p15"/>
            <p:cNvPicPr preferRelativeResize="0"/>
            <p:nvPr/>
          </p:nvPicPr>
          <p:blipFill rotWithShape="1">
            <a:blip r:embed="rId6">
              <a:alphaModFix/>
            </a:blip>
            <a:srcRect b="0" l="0" r="0" t="0"/>
            <a:stretch/>
          </p:blipFill>
          <p:spPr>
            <a:xfrm>
              <a:off x="6858000" y="3714750"/>
              <a:ext cx="2286000" cy="1047900"/>
            </a:xfrm>
            <a:prstGeom prst="rect">
              <a:avLst/>
            </a:prstGeom>
            <a:noFill/>
            <a:ln>
              <a:noFill/>
            </a:ln>
          </p:spPr>
        </p:pic>
      </p:grpSp>
      <p:grpSp>
        <p:nvGrpSpPr>
          <p:cNvPr id="98" name="Google Shape;98;p15"/>
          <p:cNvGrpSpPr/>
          <p:nvPr/>
        </p:nvGrpSpPr>
        <p:grpSpPr>
          <a:xfrm>
            <a:off x="7429500" y="2047875"/>
            <a:ext cx="1524000" cy="2381250"/>
            <a:chOff x="7429500" y="2047875"/>
            <a:chExt cx="1524000" cy="2381250"/>
          </a:xfrm>
        </p:grpSpPr>
        <p:sp>
          <p:nvSpPr>
            <p:cNvPr id="99" name="Google Shape;99;p15"/>
            <p:cNvSpPr txBox="1"/>
            <p:nvPr/>
          </p:nvSpPr>
          <p:spPr>
            <a:xfrm>
              <a:off x="7810500" y="204787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Urbanist"/>
                  <a:ea typeface="Urbanist"/>
                  <a:cs typeface="Urbanist"/>
                  <a:sym typeface="Urbanist"/>
                </a:rPr>
                <a:t>Skill Elite</a:t>
              </a:r>
              <a:endParaRPr b="1" sz="1400">
                <a:solidFill>
                  <a:srgbClr val="FFFFFF"/>
                </a:solidFill>
                <a:latin typeface="Urbanist"/>
                <a:ea typeface="Urbanist"/>
                <a:cs typeface="Urbanist"/>
                <a:sym typeface="Urbanist"/>
              </a:endParaRPr>
            </a:p>
          </p:txBody>
        </p:sp>
        <p:sp>
          <p:nvSpPr>
            <p:cNvPr id="100" name="Google Shape;100;p15"/>
            <p:cNvSpPr txBox="1"/>
            <p:nvPr/>
          </p:nvSpPr>
          <p:spPr>
            <a:xfrm>
              <a:off x="7715250" y="300037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95">
                  <a:solidFill>
                    <a:srgbClr val="A1A1A6"/>
                  </a:solidFill>
                  <a:latin typeface="Urbanist"/>
                  <a:ea typeface="Urbanist"/>
                  <a:cs typeface="Urbanist"/>
                  <a:sym typeface="Urbanist"/>
                </a:rPr>
                <a:t>Middle Class</a:t>
              </a:r>
              <a:endParaRPr b="0" sz="1295">
                <a:solidFill>
                  <a:srgbClr val="A1A1A6"/>
                </a:solidFill>
                <a:latin typeface="Urbanist"/>
                <a:ea typeface="Urbanist"/>
                <a:cs typeface="Urbanist"/>
                <a:sym typeface="Urbanist"/>
              </a:endParaRPr>
            </a:p>
          </p:txBody>
        </p:sp>
        <p:sp>
          <p:nvSpPr>
            <p:cNvPr id="101" name="Google Shape;101;p15"/>
            <p:cNvSpPr txBox="1"/>
            <p:nvPr/>
          </p:nvSpPr>
          <p:spPr>
            <a:xfrm>
              <a:off x="7429500" y="4048125"/>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A1A1A6"/>
                  </a:solidFill>
                  <a:latin typeface="Urbanist"/>
                  <a:ea typeface="Urbanist"/>
                  <a:cs typeface="Urbanist"/>
                  <a:sym typeface="Urbanist"/>
                </a:rPr>
                <a:t>CONSUMERS</a:t>
              </a:r>
              <a:endParaRPr b="1" sz="1200">
                <a:solidFill>
                  <a:srgbClr val="A1A1A6"/>
                </a:solidFill>
                <a:latin typeface="Urbanist"/>
                <a:ea typeface="Urbanist"/>
                <a:cs typeface="Urbanist"/>
                <a:sym typeface="Urbanist"/>
              </a:endParaRPr>
            </a:p>
            <a:p>
              <a:pPr indent="0" lvl="0" marL="0" rtl="0" algn="ctr">
                <a:spcBef>
                  <a:spcPts val="0"/>
                </a:spcBef>
                <a:spcAft>
                  <a:spcPts val="0"/>
                </a:spcAft>
                <a:buNone/>
              </a:pPr>
              <a:r>
                <a:rPr b="0" lang="en-US" sz="900">
                  <a:solidFill>
                    <a:srgbClr val="A1A1A6"/>
                  </a:solidFill>
                  <a:latin typeface="Urbanist"/>
                  <a:ea typeface="Urbanist"/>
                  <a:cs typeface="Urbanist"/>
                  <a:sym typeface="Urbanist"/>
                </a:rPr>
                <a:t>(Value Extraction)</a:t>
              </a:r>
              <a:endParaRPr b="0" sz="900">
                <a:solidFill>
                  <a:srgbClr val="A1A1A6"/>
                </a:solidFill>
                <a:latin typeface="Urbanist"/>
                <a:ea typeface="Urbanist"/>
                <a:cs typeface="Urbanist"/>
                <a:sym typeface="Urbanist"/>
              </a:endParaRPr>
            </a:p>
          </p:txBody>
        </p:sp>
      </p:grpSp>
      <p:grpSp>
        <p:nvGrpSpPr>
          <p:cNvPr id="102" name="Google Shape;102;p15"/>
          <p:cNvGrpSpPr/>
          <p:nvPr/>
        </p:nvGrpSpPr>
        <p:grpSpPr>
          <a:xfrm>
            <a:off x="762000" y="3238500"/>
            <a:ext cx="5048400" cy="2029460"/>
            <a:chOff x="762000" y="3238500"/>
            <a:chExt cx="5048400" cy="2029460"/>
          </a:xfrm>
        </p:grpSpPr>
        <p:sp>
          <p:nvSpPr>
            <p:cNvPr id="103" name="Google Shape;103;p15"/>
            <p:cNvSpPr/>
            <p:nvPr/>
          </p:nvSpPr>
          <p:spPr>
            <a:xfrm>
              <a:off x="762000" y="3238500"/>
              <a:ext cx="5048400" cy="571500"/>
            </a:xfrm>
            <a:prstGeom prst="roundRect">
              <a:avLst>
                <a:gd fmla="val 13333" name="adj"/>
              </a:avLst>
            </a:prstGeom>
            <a:solidFill>
              <a:srgbClr val="1C1C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txBox="1"/>
            <p:nvPr/>
          </p:nvSpPr>
          <p:spPr>
            <a:xfrm>
              <a:off x="1047750" y="3267710"/>
              <a:ext cx="38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000">
                  <a:solidFill>
                    <a:srgbClr val="0071E3"/>
                  </a:solidFill>
                  <a:latin typeface="Material Icons"/>
                  <a:ea typeface="Material Icons"/>
                  <a:cs typeface="Material Icons"/>
                  <a:sym typeface="Material Icons"/>
                </a:rPr>
                <a:t>star</a:t>
              </a:r>
              <a:endParaRPr sz="2000">
                <a:solidFill>
                  <a:srgbClr val="0071E3"/>
                </a:solidFill>
                <a:latin typeface="Material Icons"/>
                <a:ea typeface="Material Icons"/>
                <a:cs typeface="Material Icons"/>
                <a:sym typeface="Material Icons"/>
              </a:endParaRPr>
            </a:p>
          </p:txBody>
        </p:sp>
        <p:sp>
          <p:nvSpPr>
            <p:cNvPr id="105" name="Google Shape;105;p15"/>
            <p:cNvSpPr txBox="1"/>
            <p:nvPr/>
          </p:nvSpPr>
          <p:spPr>
            <a:xfrm>
              <a:off x="1428750" y="3238500"/>
              <a:ext cx="419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600">
                  <a:solidFill>
                    <a:srgbClr val="FFFFFF"/>
                  </a:solidFill>
                  <a:latin typeface="Urbanist SemiBold"/>
                  <a:ea typeface="Urbanist SemiBold"/>
                  <a:cs typeface="Urbanist SemiBold"/>
                  <a:sym typeface="Urbanist SemiBold"/>
                </a:rPr>
                <a:t>供給の独占: </a:t>
              </a:r>
              <a:r>
                <a:rPr b="0" lang="en-US" sz="1600">
                  <a:solidFill>
                    <a:srgbClr val="A1A1A6"/>
                  </a:solidFill>
                  <a:latin typeface="Urbanist Light"/>
                  <a:ea typeface="Urbanist Light"/>
                  <a:cs typeface="Urbanist Light"/>
                  <a:sym typeface="Urbanist Light"/>
                </a:rPr>
                <a:t>希少性が価値を生む</a:t>
              </a:r>
              <a:endParaRPr b="0" sz="1600">
                <a:solidFill>
                  <a:srgbClr val="FFFFFF"/>
                </a:solidFill>
                <a:latin typeface="Urbanist SemiBold"/>
                <a:ea typeface="Urbanist SemiBold"/>
                <a:cs typeface="Urbanist SemiBold"/>
                <a:sym typeface="Urbanist SemiBold"/>
              </a:endParaRPr>
            </a:p>
          </p:txBody>
        </p:sp>
        <p:sp>
          <p:nvSpPr>
            <p:cNvPr id="106" name="Google Shape;106;p15"/>
            <p:cNvSpPr/>
            <p:nvPr/>
          </p:nvSpPr>
          <p:spPr>
            <a:xfrm>
              <a:off x="762000" y="3952875"/>
              <a:ext cx="5048400" cy="571500"/>
            </a:xfrm>
            <a:prstGeom prst="roundRect">
              <a:avLst>
                <a:gd fmla="val 13333" name="adj"/>
              </a:avLst>
            </a:prstGeom>
            <a:solidFill>
              <a:srgbClr val="1C1C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5"/>
            <p:cNvSpPr txBox="1"/>
            <p:nvPr/>
          </p:nvSpPr>
          <p:spPr>
            <a:xfrm>
              <a:off x="1047750" y="3982085"/>
              <a:ext cx="38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000">
                  <a:solidFill>
                    <a:srgbClr val="0071E3"/>
                  </a:solidFill>
                  <a:latin typeface="Material Icons"/>
                  <a:ea typeface="Material Icons"/>
                  <a:cs typeface="Material Icons"/>
                  <a:sym typeface="Material Icons"/>
                </a:rPr>
                <a:t>trending_down</a:t>
              </a:r>
              <a:endParaRPr sz="2000">
                <a:solidFill>
                  <a:srgbClr val="0071E3"/>
                </a:solidFill>
                <a:latin typeface="Material Icons"/>
                <a:ea typeface="Material Icons"/>
                <a:cs typeface="Material Icons"/>
                <a:sym typeface="Material Icons"/>
              </a:endParaRPr>
            </a:p>
          </p:txBody>
        </p:sp>
        <p:sp>
          <p:nvSpPr>
            <p:cNvPr id="108" name="Google Shape;108;p15"/>
            <p:cNvSpPr txBox="1"/>
            <p:nvPr/>
          </p:nvSpPr>
          <p:spPr>
            <a:xfrm>
              <a:off x="1428750" y="3952875"/>
              <a:ext cx="419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600">
                  <a:solidFill>
                    <a:srgbClr val="FFFFFF"/>
                  </a:solidFill>
                  <a:latin typeface="Urbanist SemiBold"/>
                  <a:ea typeface="Urbanist SemiBold"/>
                  <a:cs typeface="Urbanist SemiBold"/>
                  <a:sym typeface="Urbanist SemiBold"/>
                </a:rPr>
                <a:t>富の逆流: </a:t>
              </a:r>
              <a:r>
                <a:rPr b="0" lang="en-US" sz="1600">
                  <a:solidFill>
                    <a:srgbClr val="A1A1A6"/>
                  </a:solidFill>
                  <a:latin typeface="Urbanist Light"/>
                  <a:ea typeface="Urbanist Light"/>
                  <a:cs typeface="Urbanist Light"/>
                  <a:sym typeface="Urbanist Light"/>
                </a:rPr>
                <a:t>消費者は「吸収」される対象</a:t>
              </a:r>
              <a:endParaRPr b="0" sz="1600">
                <a:solidFill>
                  <a:srgbClr val="FFFFFF"/>
                </a:solidFill>
                <a:latin typeface="Urbanist SemiBold"/>
                <a:ea typeface="Urbanist SemiBold"/>
                <a:cs typeface="Urbanist SemiBold"/>
                <a:sym typeface="Urbanist SemiBold"/>
              </a:endParaRPr>
            </a:p>
          </p:txBody>
        </p:sp>
        <p:sp>
          <p:nvSpPr>
            <p:cNvPr id="109" name="Google Shape;109;p15"/>
            <p:cNvSpPr/>
            <p:nvPr/>
          </p:nvSpPr>
          <p:spPr>
            <a:xfrm>
              <a:off x="762000" y="4667250"/>
              <a:ext cx="5048400" cy="571500"/>
            </a:xfrm>
            <a:prstGeom prst="roundRect">
              <a:avLst>
                <a:gd fmla="val 13333" name="adj"/>
              </a:avLst>
            </a:prstGeom>
            <a:solidFill>
              <a:srgbClr val="1C1C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5"/>
            <p:cNvSpPr txBox="1"/>
            <p:nvPr/>
          </p:nvSpPr>
          <p:spPr>
            <a:xfrm>
              <a:off x="1047750" y="4696460"/>
              <a:ext cx="38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000">
                  <a:solidFill>
                    <a:srgbClr val="0071E3"/>
                  </a:solidFill>
                  <a:latin typeface="Material Icons"/>
                  <a:ea typeface="Material Icons"/>
                  <a:cs typeface="Material Icons"/>
                  <a:sym typeface="Material Icons"/>
                </a:rPr>
                <a:t>difference</a:t>
              </a:r>
              <a:endParaRPr sz="2000">
                <a:solidFill>
                  <a:srgbClr val="0071E3"/>
                </a:solidFill>
                <a:latin typeface="Material Icons"/>
                <a:ea typeface="Material Icons"/>
                <a:cs typeface="Material Icons"/>
                <a:sym typeface="Material Icons"/>
              </a:endParaRPr>
            </a:p>
          </p:txBody>
        </p:sp>
        <p:sp>
          <p:nvSpPr>
            <p:cNvPr id="111" name="Google Shape;111;p15"/>
            <p:cNvSpPr txBox="1"/>
            <p:nvPr/>
          </p:nvSpPr>
          <p:spPr>
            <a:xfrm>
              <a:off x="1428750" y="4667250"/>
              <a:ext cx="419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600">
                  <a:solidFill>
                    <a:srgbClr val="FFFFFF"/>
                  </a:solidFill>
                  <a:latin typeface="Urbanist SemiBold"/>
                  <a:ea typeface="Urbanist SemiBold"/>
                  <a:cs typeface="Urbanist SemiBold"/>
                  <a:sym typeface="Urbanist SemiBold"/>
                </a:rPr>
                <a:t>複製コストの低減: </a:t>
              </a:r>
              <a:r>
                <a:rPr b="0" lang="en-US" sz="1600">
                  <a:solidFill>
                    <a:srgbClr val="A1A1A6"/>
                  </a:solidFill>
                  <a:latin typeface="Urbanist Light"/>
                  <a:ea typeface="Urbanist Light"/>
                  <a:cs typeface="Urbanist Light"/>
                  <a:sym typeface="Urbanist Light"/>
                </a:rPr>
                <a:t>デジタル化が格差を拡大</a:t>
              </a:r>
              <a:endParaRPr b="0" sz="1600">
                <a:solidFill>
                  <a:srgbClr val="FFFFFF"/>
                </a:solidFill>
                <a:latin typeface="Urbanist SemiBold"/>
                <a:ea typeface="Urbanist SemiBold"/>
                <a:cs typeface="Urbanist SemiBold"/>
                <a:sym typeface="Urbanist SemiBold"/>
              </a:endParaRPr>
            </a:p>
          </p:txBody>
        </p:sp>
      </p:grpSp>
      <p:sp>
        <p:nvSpPr>
          <p:cNvPr id="112" name="Google Shape;112;p15"/>
          <p:cNvSpPr txBox="1"/>
          <p:nvPr/>
        </p:nvSpPr>
        <p:spPr>
          <a:xfrm>
            <a:off x="990600" y="571500"/>
            <a:ext cx="10961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5F5F7"/>
                </a:solidFill>
                <a:latin typeface="Urbanist"/>
                <a:ea typeface="Urbanist"/>
                <a:cs typeface="Urbanist"/>
                <a:sym typeface="Urbanist"/>
              </a:rPr>
              <a:t>伝統的な資本主義のピラミッド</a:t>
            </a:r>
            <a:endParaRPr/>
          </a:p>
        </p:txBody>
      </p:sp>
      <p:sp>
        <p:nvSpPr>
          <p:cNvPr id="113" name="Google Shape;113;p15"/>
          <p:cNvSpPr/>
          <p:nvPr/>
        </p:nvSpPr>
        <p:spPr>
          <a:xfrm>
            <a:off x="762000" y="571500"/>
            <a:ext cx="38100" cy="609600"/>
          </a:xfrm>
          <a:prstGeom prst="rect">
            <a:avLst/>
          </a:prstGeom>
          <a:solidFill>
            <a:srgbClr val="007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txBox="1"/>
          <p:nvPr/>
        </p:nvSpPr>
        <p:spPr>
          <a:xfrm>
            <a:off x="762000" y="1562100"/>
            <a:ext cx="50484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FFFFFF"/>
                </a:solidFill>
                <a:latin typeface="Urbanist SemiBold"/>
                <a:ea typeface="Urbanist SemiBold"/>
                <a:cs typeface="Urbanist SemiBold"/>
                <a:sym typeface="Urbanist SemiBold"/>
              </a:rPr>
              <a:t>勝者総取りのメカニズム</a:t>
            </a:r>
            <a:endParaRPr/>
          </a:p>
        </p:txBody>
      </p:sp>
      <p:sp>
        <p:nvSpPr>
          <p:cNvPr id="115" name="Google Shape;115;p15"/>
          <p:cNvSpPr txBox="1"/>
          <p:nvPr/>
        </p:nvSpPr>
        <p:spPr>
          <a:xfrm>
            <a:off x="762000" y="2125860"/>
            <a:ext cx="5048400" cy="66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優れたスキルを持つアーティストや一部のエリートが頂点に立ち、全ての富と注目を独占する構造です。</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19" name="Shape 119"/>
        <p:cNvGrpSpPr/>
        <p:nvPr/>
      </p:nvGrpSpPr>
      <p:grpSpPr>
        <a:xfrm>
          <a:off x="0" y="0"/>
          <a:ext cx="0" cy="0"/>
          <a:chOff x="0" y="0"/>
          <a:chExt cx="0" cy="0"/>
        </a:xfrm>
      </p:grpSpPr>
      <p:pic>
        <p:nvPicPr>
          <p:cNvPr descr="image.png" id="120" name="Google Shape;120;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1" name="Google Shape;121;p16"/>
          <p:cNvPicPr preferRelativeResize="0"/>
          <p:nvPr/>
        </p:nvPicPr>
        <p:blipFill rotWithShape="1">
          <a:blip r:embed="rId4">
            <a:alphaModFix/>
          </a:blip>
          <a:srcRect b="0" l="0" r="0" t="0"/>
          <a:stretch/>
        </p:blipFill>
        <p:spPr>
          <a:xfrm>
            <a:off x="762000" y="1562100"/>
            <a:ext cx="5048250" cy="4803576"/>
          </a:xfrm>
          <a:prstGeom prst="rect">
            <a:avLst/>
          </a:prstGeom>
          <a:noFill/>
          <a:ln>
            <a:noFill/>
          </a:ln>
        </p:spPr>
      </p:pic>
      <p:pic>
        <p:nvPicPr>
          <p:cNvPr descr="image.png" id="122" name="Google Shape;122;p16"/>
          <p:cNvPicPr preferRelativeResize="0"/>
          <p:nvPr/>
        </p:nvPicPr>
        <p:blipFill rotWithShape="1">
          <a:blip r:embed="rId5">
            <a:alphaModFix/>
          </a:blip>
          <a:srcRect b="0" l="0" r="0" t="0"/>
          <a:stretch/>
        </p:blipFill>
        <p:spPr>
          <a:xfrm>
            <a:off x="6381750" y="1562100"/>
            <a:ext cx="5048250" cy="2119907"/>
          </a:xfrm>
          <a:prstGeom prst="rect">
            <a:avLst/>
          </a:prstGeom>
          <a:noFill/>
          <a:ln>
            <a:noFill/>
          </a:ln>
        </p:spPr>
      </p:pic>
      <p:pic>
        <p:nvPicPr>
          <p:cNvPr descr="image.png" id="123" name="Google Shape;123;p16"/>
          <p:cNvPicPr preferRelativeResize="0"/>
          <p:nvPr/>
        </p:nvPicPr>
        <p:blipFill rotWithShape="1">
          <a:blip r:embed="rId6">
            <a:alphaModFix/>
          </a:blip>
          <a:srcRect b="0" l="0" r="0" t="0"/>
          <a:stretch/>
        </p:blipFill>
        <p:spPr>
          <a:xfrm>
            <a:off x="6381750" y="3910607"/>
            <a:ext cx="5048250" cy="2455068"/>
          </a:xfrm>
          <a:prstGeom prst="rect">
            <a:avLst/>
          </a:prstGeom>
          <a:noFill/>
          <a:ln>
            <a:noFill/>
          </a:ln>
        </p:spPr>
      </p:pic>
      <p:pic>
        <p:nvPicPr>
          <p:cNvPr descr="image.png" id="124" name="Google Shape;124;p16"/>
          <p:cNvPicPr preferRelativeResize="0"/>
          <p:nvPr/>
        </p:nvPicPr>
        <p:blipFill rotWithShape="1">
          <a:blip r:embed="rId7">
            <a:alphaModFix/>
          </a:blip>
          <a:srcRect b="0" l="0" r="0" t="0"/>
          <a:stretch/>
        </p:blipFill>
        <p:spPr>
          <a:xfrm>
            <a:off x="771525" y="1571625"/>
            <a:ext cx="1465361" cy="171450"/>
          </a:xfrm>
          <a:prstGeom prst="rect">
            <a:avLst/>
          </a:prstGeom>
          <a:noFill/>
          <a:ln>
            <a:noFill/>
          </a:ln>
        </p:spPr>
      </p:pic>
      <p:pic>
        <p:nvPicPr>
          <p:cNvPr descr="image.png" id="125" name="Google Shape;125;p16"/>
          <p:cNvPicPr preferRelativeResize="0"/>
          <p:nvPr/>
        </p:nvPicPr>
        <p:blipFill rotWithShape="1">
          <a:blip r:embed="rId8">
            <a:alphaModFix/>
          </a:blip>
          <a:srcRect b="0" l="0" r="0" t="0"/>
          <a:stretch/>
        </p:blipFill>
        <p:spPr>
          <a:xfrm>
            <a:off x="6696075" y="1876425"/>
            <a:ext cx="232618" cy="304800"/>
          </a:xfrm>
          <a:prstGeom prst="rect">
            <a:avLst/>
          </a:prstGeom>
          <a:noFill/>
          <a:ln>
            <a:noFill/>
          </a:ln>
        </p:spPr>
      </p:pic>
      <p:pic>
        <p:nvPicPr>
          <p:cNvPr descr="image.png" id="126" name="Google Shape;126;p16"/>
          <p:cNvPicPr preferRelativeResize="0"/>
          <p:nvPr/>
        </p:nvPicPr>
        <p:blipFill rotWithShape="1">
          <a:blip r:embed="rId9">
            <a:alphaModFix/>
          </a:blip>
          <a:srcRect b="0" l="0" r="0" t="0"/>
          <a:stretch/>
        </p:blipFill>
        <p:spPr>
          <a:xfrm>
            <a:off x="6696075" y="4224932"/>
            <a:ext cx="232618" cy="304800"/>
          </a:xfrm>
          <a:prstGeom prst="rect">
            <a:avLst/>
          </a:prstGeom>
          <a:noFill/>
          <a:ln>
            <a:noFill/>
          </a:ln>
        </p:spPr>
      </p:pic>
      <p:sp>
        <p:nvSpPr>
          <p:cNvPr id="127" name="Google Shape;127;p16"/>
          <p:cNvSpPr txBox="1"/>
          <p:nvPr/>
        </p:nvSpPr>
        <p:spPr>
          <a:xfrm>
            <a:off x="990600" y="571500"/>
            <a:ext cx="10961370"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5F5F7"/>
                </a:solidFill>
                <a:latin typeface="Urbanist"/>
                <a:ea typeface="Urbanist"/>
                <a:cs typeface="Urbanist"/>
                <a:sym typeface="Urbanist"/>
              </a:rPr>
              <a:t>成り立ち：なぜピラミッドになるのか</a:t>
            </a:r>
            <a:endParaRPr/>
          </a:p>
        </p:txBody>
      </p:sp>
      <p:sp>
        <p:nvSpPr>
          <p:cNvPr id="128" name="Google Shape;128;p16"/>
          <p:cNvSpPr/>
          <p:nvPr/>
        </p:nvSpPr>
        <p:spPr>
          <a:xfrm>
            <a:off x="762000" y="571500"/>
            <a:ext cx="38100" cy="609600"/>
          </a:xfrm>
          <a:prstGeom prst="rect">
            <a:avLst/>
          </a:prstGeom>
          <a:solidFill>
            <a:srgbClr val="007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6"/>
          <p:cNvSpPr txBox="1"/>
          <p:nvPr/>
        </p:nvSpPr>
        <p:spPr>
          <a:xfrm>
            <a:off x="6696075" y="1876425"/>
            <a:ext cx="4640580" cy="333375"/>
          </a:xfrm>
          <a:prstGeom prst="rect">
            <a:avLst/>
          </a:prstGeom>
          <a:noFill/>
          <a:ln>
            <a:noFill/>
          </a:ln>
        </p:spPr>
        <p:txBody>
          <a:bodyPr anchorCtr="0" anchor="t" bIns="0" lIns="23260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規模の経済</a:t>
            </a:r>
            <a:endParaRPr/>
          </a:p>
        </p:txBody>
      </p:sp>
      <p:sp>
        <p:nvSpPr>
          <p:cNvPr id="130" name="Google Shape;130;p16"/>
          <p:cNvSpPr txBox="1"/>
          <p:nvPr/>
        </p:nvSpPr>
        <p:spPr>
          <a:xfrm>
            <a:off x="6696075" y="2362200"/>
            <a:ext cx="4419600"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デジタル作品は、1人に届けるのも100万人に届けるのもコストがほぼ同じです。結果として、最優秀者が市場全体を支配します。</a:t>
            </a:r>
            <a:endParaRPr/>
          </a:p>
        </p:txBody>
      </p:sp>
      <p:sp>
        <p:nvSpPr>
          <p:cNvPr id="131" name="Google Shape;131;p16"/>
          <p:cNvSpPr txBox="1"/>
          <p:nvPr/>
        </p:nvSpPr>
        <p:spPr>
          <a:xfrm>
            <a:off x="6696075" y="4224932"/>
            <a:ext cx="4640580" cy="333375"/>
          </a:xfrm>
          <a:prstGeom prst="rect">
            <a:avLst/>
          </a:prstGeom>
          <a:noFill/>
          <a:ln>
            <a:noFill/>
          </a:ln>
        </p:spPr>
        <p:txBody>
          <a:bodyPr anchorCtr="0" anchor="t" bIns="0" lIns="23260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アテンション・エコノミー</a:t>
            </a:r>
            <a:endParaRPr/>
          </a:p>
        </p:txBody>
      </p:sp>
      <p:sp>
        <p:nvSpPr>
          <p:cNvPr id="132" name="Google Shape;132;p16"/>
          <p:cNvSpPr txBox="1"/>
          <p:nvPr/>
        </p:nvSpPr>
        <p:spPr>
          <a:xfrm>
            <a:off x="6696075" y="4710707"/>
            <a:ext cx="441960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人間の関心は有限です。資本主義は効率を求め、関心を一つの「ハブ（アーティスト）」に集中させ、そこをマネタイズの結節点にします。</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36" name="Shape 136"/>
        <p:cNvGrpSpPr/>
        <p:nvPr/>
      </p:nvGrpSpPr>
      <p:grpSpPr>
        <a:xfrm>
          <a:off x="0" y="0"/>
          <a:ext cx="0" cy="0"/>
          <a:chOff x="0" y="0"/>
          <a:chExt cx="0" cy="0"/>
        </a:xfrm>
      </p:grpSpPr>
      <p:pic>
        <p:nvPicPr>
          <p:cNvPr descr="image.png" id="137" name="Google Shape;137;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8" name="Google Shape;138;p17"/>
          <p:cNvPicPr preferRelativeResize="0"/>
          <p:nvPr/>
        </p:nvPicPr>
        <p:blipFill rotWithShape="1">
          <a:blip r:embed="rId4">
            <a:alphaModFix/>
          </a:blip>
          <a:srcRect b="0" l="0" r="0" t="0"/>
          <a:stretch/>
        </p:blipFill>
        <p:spPr>
          <a:xfrm>
            <a:off x="2243137" y="2118419"/>
            <a:ext cx="7705725" cy="2621160"/>
          </a:xfrm>
          <a:prstGeom prst="rect">
            <a:avLst/>
          </a:prstGeom>
          <a:noFill/>
          <a:ln>
            <a:noFill/>
          </a:ln>
        </p:spPr>
      </p:pic>
      <p:sp>
        <p:nvSpPr>
          <p:cNvPr id="139" name="Google Shape;139;p17"/>
          <p:cNvSpPr txBox="1"/>
          <p:nvPr/>
        </p:nvSpPr>
        <p:spPr>
          <a:xfrm>
            <a:off x="2650569" y="2699444"/>
            <a:ext cx="6890861" cy="781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400" u="none" cap="none" strike="noStrike">
                <a:solidFill>
                  <a:srgbClr val="0071E3"/>
                </a:solidFill>
                <a:latin typeface="Urbanist"/>
                <a:ea typeface="Urbanist"/>
                <a:cs typeface="Urbanist"/>
                <a:sym typeface="Urbanist"/>
              </a:rPr>
              <a:t>AI Catalyst</a:t>
            </a:r>
            <a:endParaRPr/>
          </a:p>
        </p:txBody>
      </p:sp>
      <p:sp>
        <p:nvSpPr>
          <p:cNvPr id="140" name="Google Shape;140;p17"/>
          <p:cNvSpPr txBox="1"/>
          <p:nvPr/>
        </p:nvSpPr>
        <p:spPr>
          <a:xfrm>
            <a:off x="2814637" y="3670994"/>
            <a:ext cx="6562725"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2400" u="none" cap="none" strike="noStrike">
                <a:solidFill>
                  <a:srgbClr val="FFFFFF"/>
                </a:solidFill>
                <a:latin typeface="Urbanist Light"/>
                <a:ea typeface="Urbanist Light"/>
                <a:cs typeface="Urbanist Light"/>
                <a:sym typeface="Urbanist Light"/>
              </a:rPr>
              <a:t>スキルのコモディティ化と、ピラミッドの崩壊</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44" name="Shape 144"/>
        <p:cNvGrpSpPr/>
        <p:nvPr/>
      </p:nvGrpSpPr>
      <p:grpSpPr>
        <a:xfrm>
          <a:off x="0" y="0"/>
          <a:ext cx="0" cy="0"/>
          <a:chOff x="0" y="0"/>
          <a:chExt cx="0" cy="0"/>
        </a:xfrm>
      </p:grpSpPr>
      <p:pic>
        <p:nvPicPr>
          <p:cNvPr descr="image.png" id="145" name="Google Shape;14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6" name="Google Shape;146;p18"/>
          <p:cNvPicPr preferRelativeResize="0"/>
          <p:nvPr/>
        </p:nvPicPr>
        <p:blipFill rotWithShape="1">
          <a:blip r:embed="rId4">
            <a:alphaModFix/>
          </a:blip>
          <a:srcRect b="0" l="0" r="0" t="0"/>
          <a:stretch/>
        </p:blipFill>
        <p:spPr>
          <a:xfrm>
            <a:off x="762000" y="3653432"/>
            <a:ext cx="4919067" cy="1066800"/>
          </a:xfrm>
          <a:prstGeom prst="rect">
            <a:avLst/>
          </a:prstGeom>
          <a:noFill/>
          <a:ln>
            <a:noFill/>
          </a:ln>
        </p:spPr>
      </p:pic>
      <p:pic>
        <p:nvPicPr>
          <p:cNvPr descr="image.png" id="147" name="Google Shape;147;p18"/>
          <p:cNvPicPr preferRelativeResize="0"/>
          <p:nvPr/>
        </p:nvPicPr>
        <p:blipFill rotWithShape="1">
          <a:blip r:embed="rId5">
            <a:alphaModFix/>
          </a:blip>
          <a:srcRect b="0" l="0" r="0" t="0"/>
          <a:stretch/>
        </p:blipFill>
        <p:spPr>
          <a:xfrm>
            <a:off x="6096000" y="0"/>
            <a:ext cx="1389012" cy="171450"/>
          </a:xfrm>
          <a:prstGeom prst="rect">
            <a:avLst/>
          </a:prstGeom>
          <a:noFill/>
          <a:ln>
            <a:noFill/>
          </a:ln>
        </p:spPr>
      </p:pic>
      <p:pic>
        <p:nvPicPr>
          <p:cNvPr descr="image.png" id="148" name="Google Shape;148;p18"/>
          <p:cNvPicPr preferRelativeResize="0"/>
          <p:nvPr/>
        </p:nvPicPr>
        <p:blipFill rotWithShape="1">
          <a:blip r:embed="rId6">
            <a:alphaModFix/>
          </a:blip>
          <a:srcRect b="0" l="0" r="0" t="0"/>
          <a:stretch/>
        </p:blipFill>
        <p:spPr>
          <a:xfrm>
            <a:off x="1152525" y="4043957"/>
            <a:ext cx="4138017" cy="285750"/>
          </a:xfrm>
          <a:prstGeom prst="rect">
            <a:avLst/>
          </a:prstGeom>
          <a:noFill/>
          <a:ln>
            <a:noFill/>
          </a:ln>
        </p:spPr>
      </p:pic>
      <p:sp>
        <p:nvSpPr>
          <p:cNvPr id="149" name="Google Shape;149;p18"/>
          <p:cNvSpPr txBox="1"/>
          <p:nvPr/>
        </p:nvSpPr>
        <p:spPr>
          <a:xfrm>
            <a:off x="990600" y="762000"/>
            <a:ext cx="4560570" cy="121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5F5F7"/>
                </a:solidFill>
                <a:latin typeface="Urbanist"/>
                <a:ea typeface="Urbanist"/>
                <a:cs typeface="Urbanist"/>
                <a:sym typeface="Urbanist"/>
              </a:rPr>
              <a:t>AIによるパラダイムシフト</a:t>
            </a:r>
            <a:endParaRPr/>
          </a:p>
        </p:txBody>
      </p:sp>
      <p:sp>
        <p:nvSpPr>
          <p:cNvPr id="150" name="Google Shape;150;p18"/>
          <p:cNvSpPr/>
          <p:nvPr/>
        </p:nvSpPr>
        <p:spPr>
          <a:xfrm>
            <a:off x="762000" y="762000"/>
            <a:ext cx="38100" cy="1219200"/>
          </a:xfrm>
          <a:prstGeom prst="rect">
            <a:avLst/>
          </a:prstGeom>
          <a:solidFill>
            <a:srgbClr val="007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8"/>
          <p:cNvSpPr txBox="1"/>
          <p:nvPr/>
        </p:nvSpPr>
        <p:spPr>
          <a:xfrm>
            <a:off x="762000" y="2362200"/>
            <a:ext cx="4919067"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AIは「生成コスト」をゼロに近づけます。これにより、ピラミッドの頂点にいた「制作者」のスキルの希少価値は低下します。</a:t>
            </a:r>
            <a:endParaRPr/>
          </a:p>
        </p:txBody>
      </p:sp>
      <p:sp>
        <p:nvSpPr>
          <p:cNvPr id="152" name="Google Shape;152;p18"/>
          <p:cNvSpPr txBox="1"/>
          <p:nvPr/>
        </p:nvSpPr>
        <p:spPr>
          <a:xfrm>
            <a:off x="762000" y="5005982"/>
            <a:ext cx="4919067"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価値は「何を作るか」から、</a:t>
            </a:r>
            <a:r>
              <a:rPr b="0" i="0" lang="en-US" sz="1650" u="none" cap="none" strike="noStrike">
                <a:solidFill>
                  <a:srgbClr val="FFFFFF"/>
                </a:solidFill>
                <a:latin typeface="Urbanist SemiBold"/>
                <a:ea typeface="Urbanist SemiBold"/>
                <a:cs typeface="Urbanist SemiBold"/>
                <a:sym typeface="Urbanist SemiBold"/>
              </a:rPr>
              <a:t>「誰と、どう楽しむか（コミュニティ）」</a:t>
            </a:r>
            <a:r>
              <a:rPr b="0" i="0" lang="en-US" sz="1650" u="none" cap="none" strike="noStrike">
                <a:solidFill>
                  <a:srgbClr val="A1A1A6"/>
                </a:solidFill>
                <a:latin typeface="Urbanist Light"/>
                <a:ea typeface="Urbanist Light"/>
                <a:cs typeface="Urbanist Light"/>
                <a:sym typeface="Urbanist Light"/>
              </a:rPr>
              <a:t>へと移行します。</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19"/>
          <p:cNvSpPr/>
          <p:nvPr/>
        </p:nvSpPr>
        <p:spPr>
          <a:xfrm>
            <a:off x="0" y="0"/>
            <a:ext cx="12192000" cy="6858000"/>
          </a:xfrm>
          <a:prstGeom prst="rect">
            <a:avLst/>
          </a:prstGeom>
          <a:solidFill>
            <a:srgbClr val="050505">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9"/>
          <p:cNvSpPr/>
          <p:nvPr/>
        </p:nvSpPr>
        <p:spPr>
          <a:xfrm>
            <a:off x="762000" y="571500"/>
            <a:ext cx="38100" cy="609600"/>
          </a:xfrm>
          <a:prstGeom prst="rect">
            <a:avLst/>
          </a:prstGeom>
          <a:solidFill>
            <a:srgbClr val="0071E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9"/>
          <p:cNvSpPr txBox="1"/>
          <p:nvPr/>
        </p:nvSpPr>
        <p:spPr>
          <a:xfrm>
            <a:off x="990600" y="571500"/>
            <a:ext cx="10477500" cy="6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600">
                <a:solidFill>
                  <a:srgbClr val="F5F5F7"/>
                </a:solidFill>
                <a:latin typeface="Urbanist"/>
                <a:ea typeface="Urbanist"/>
                <a:cs typeface="Urbanist"/>
                <a:sym typeface="Urbanist"/>
              </a:rPr>
              <a:t>ピラミッドの逆転：円環型エコシステム</a:t>
            </a:r>
            <a:endParaRPr b="1" sz="3600">
              <a:solidFill>
                <a:srgbClr val="F5F5F7"/>
              </a:solidFill>
              <a:latin typeface="Urbanist"/>
              <a:ea typeface="Urbanist"/>
              <a:cs typeface="Urbanist"/>
              <a:sym typeface="Urbanist"/>
            </a:endParaRPr>
          </a:p>
        </p:txBody>
      </p:sp>
      <p:grpSp>
        <p:nvGrpSpPr>
          <p:cNvPr id="160" name="Google Shape;160;p19"/>
          <p:cNvGrpSpPr/>
          <p:nvPr/>
        </p:nvGrpSpPr>
        <p:grpSpPr>
          <a:xfrm>
            <a:off x="1571625" y="1762125"/>
            <a:ext cx="3333900" cy="3714900"/>
            <a:chOff x="1571625" y="1762125"/>
            <a:chExt cx="3333900" cy="3714900"/>
          </a:xfrm>
        </p:grpSpPr>
        <p:pic>
          <p:nvPicPr>
            <p:cNvPr id="161" name="Google Shape;161;p19"/>
            <p:cNvPicPr preferRelativeResize="0"/>
            <p:nvPr/>
          </p:nvPicPr>
          <p:blipFill rotWithShape="1">
            <a:blip r:embed="rId4">
              <a:alphaModFix/>
            </a:blip>
            <a:srcRect b="0" l="0" r="0" t="0"/>
            <a:stretch/>
          </p:blipFill>
          <p:spPr>
            <a:xfrm>
              <a:off x="1900238" y="2090738"/>
              <a:ext cx="2676600" cy="3057600"/>
            </a:xfrm>
            <a:prstGeom prst="rect">
              <a:avLst/>
            </a:prstGeom>
            <a:noFill/>
            <a:ln>
              <a:noFill/>
            </a:ln>
          </p:spPr>
        </p:pic>
        <p:sp>
          <p:nvSpPr>
            <p:cNvPr id="162" name="Google Shape;162;p19"/>
            <p:cNvSpPr/>
            <p:nvPr/>
          </p:nvSpPr>
          <p:spPr>
            <a:xfrm>
              <a:off x="2667000" y="3048000"/>
              <a:ext cx="1143000" cy="1143000"/>
            </a:xfrm>
            <a:prstGeom prst="ellipse">
              <a:avLst/>
            </a:prstGeom>
            <a:solidFill>
              <a:srgbClr val="0071E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9"/>
            <p:cNvSpPr txBox="1"/>
            <p:nvPr/>
          </p:nvSpPr>
          <p:spPr>
            <a:xfrm>
              <a:off x="2667000" y="3048000"/>
              <a:ext cx="1143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10">
                  <a:solidFill>
                    <a:srgbClr val="FFFFFF"/>
                  </a:solidFill>
                  <a:latin typeface="Urbanist"/>
                  <a:ea typeface="Urbanist"/>
                  <a:cs typeface="Urbanist"/>
                  <a:sym typeface="Urbanist"/>
                </a:rPr>
                <a:t>ARTIST</a:t>
              </a:r>
              <a:endParaRPr b="1" sz="1110">
                <a:solidFill>
                  <a:srgbClr val="FFFFFF"/>
                </a:solidFill>
                <a:latin typeface="Urbanist"/>
                <a:ea typeface="Urbanist"/>
                <a:cs typeface="Urbanist"/>
                <a:sym typeface="Urbanist"/>
              </a:endParaRPr>
            </a:p>
          </p:txBody>
        </p:sp>
        <p:sp>
          <p:nvSpPr>
            <p:cNvPr id="164" name="Google Shape;164;p19"/>
            <p:cNvSpPr/>
            <p:nvPr/>
          </p:nvSpPr>
          <p:spPr>
            <a:xfrm>
              <a:off x="2905125" y="1762125"/>
              <a:ext cx="666900" cy="666900"/>
            </a:xfrm>
            <a:prstGeom prst="ellipse">
              <a:avLst/>
            </a:prstGeom>
            <a:solidFill>
              <a:srgbClr val="1C1C1E"/>
            </a:solidFill>
            <a:ln cap="flat" cmpd="sng" w="9525">
              <a:solidFill>
                <a:srgbClr val="4A7DB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9"/>
            <p:cNvSpPr txBox="1"/>
            <p:nvPr/>
          </p:nvSpPr>
          <p:spPr>
            <a:xfrm>
              <a:off x="2905125" y="17621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10">
                  <a:solidFill>
                    <a:srgbClr val="FFFFFF"/>
                  </a:solidFill>
                  <a:latin typeface="Urbanist"/>
                  <a:ea typeface="Urbanist"/>
                  <a:cs typeface="Urbanist"/>
                  <a:sym typeface="Urbanist"/>
                </a:rPr>
                <a:t>FAN</a:t>
              </a:r>
              <a:endParaRPr b="1" sz="1110">
                <a:solidFill>
                  <a:srgbClr val="FFFFFF"/>
                </a:solidFill>
                <a:latin typeface="Urbanist"/>
                <a:ea typeface="Urbanist"/>
                <a:cs typeface="Urbanist"/>
                <a:sym typeface="Urbanist"/>
              </a:endParaRPr>
            </a:p>
          </p:txBody>
        </p:sp>
        <p:sp>
          <p:nvSpPr>
            <p:cNvPr id="166" name="Google Shape;166;p19"/>
            <p:cNvSpPr/>
            <p:nvPr/>
          </p:nvSpPr>
          <p:spPr>
            <a:xfrm>
              <a:off x="4238625" y="2524125"/>
              <a:ext cx="666900" cy="666900"/>
            </a:xfrm>
            <a:prstGeom prst="ellipse">
              <a:avLst/>
            </a:prstGeom>
            <a:solidFill>
              <a:srgbClr val="1C1C1E"/>
            </a:solidFill>
            <a:ln cap="flat" cmpd="sng" w="9525">
              <a:solidFill>
                <a:srgbClr val="4A7DB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9"/>
            <p:cNvSpPr txBox="1"/>
            <p:nvPr/>
          </p:nvSpPr>
          <p:spPr>
            <a:xfrm>
              <a:off x="4238625" y="25241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10">
                  <a:solidFill>
                    <a:srgbClr val="FFFFFF"/>
                  </a:solidFill>
                  <a:latin typeface="Urbanist"/>
                  <a:ea typeface="Urbanist"/>
                  <a:cs typeface="Urbanist"/>
                  <a:sym typeface="Urbanist"/>
                </a:rPr>
                <a:t>CREATOR</a:t>
              </a:r>
              <a:endParaRPr b="1" sz="1110">
                <a:solidFill>
                  <a:srgbClr val="FFFFFF"/>
                </a:solidFill>
                <a:latin typeface="Urbanist"/>
                <a:ea typeface="Urbanist"/>
                <a:cs typeface="Urbanist"/>
                <a:sym typeface="Urbanist"/>
              </a:endParaRPr>
            </a:p>
          </p:txBody>
        </p:sp>
        <p:sp>
          <p:nvSpPr>
            <p:cNvPr id="168" name="Google Shape;168;p19"/>
            <p:cNvSpPr/>
            <p:nvPr/>
          </p:nvSpPr>
          <p:spPr>
            <a:xfrm>
              <a:off x="4238625" y="4048125"/>
              <a:ext cx="666900" cy="666900"/>
            </a:xfrm>
            <a:prstGeom prst="ellipse">
              <a:avLst/>
            </a:prstGeom>
            <a:solidFill>
              <a:srgbClr val="1C1C1E"/>
            </a:solidFill>
            <a:ln cap="flat" cmpd="sng" w="9525">
              <a:solidFill>
                <a:srgbClr val="4A7DB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9"/>
            <p:cNvSpPr txBox="1"/>
            <p:nvPr/>
          </p:nvSpPr>
          <p:spPr>
            <a:xfrm>
              <a:off x="4238625" y="40481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10">
                  <a:solidFill>
                    <a:srgbClr val="FFFFFF"/>
                  </a:solidFill>
                  <a:latin typeface="Urbanist"/>
                  <a:ea typeface="Urbanist"/>
                  <a:cs typeface="Urbanist"/>
                  <a:sym typeface="Urbanist"/>
                </a:rPr>
                <a:t>HOLDER</a:t>
              </a:r>
              <a:endParaRPr b="1" sz="1110">
                <a:solidFill>
                  <a:srgbClr val="FFFFFF"/>
                </a:solidFill>
                <a:latin typeface="Urbanist"/>
                <a:ea typeface="Urbanist"/>
                <a:cs typeface="Urbanist"/>
                <a:sym typeface="Urbanist"/>
              </a:endParaRPr>
            </a:p>
          </p:txBody>
        </p:sp>
        <p:sp>
          <p:nvSpPr>
            <p:cNvPr id="170" name="Google Shape;170;p19"/>
            <p:cNvSpPr/>
            <p:nvPr/>
          </p:nvSpPr>
          <p:spPr>
            <a:xfrm>
              <a:off x="2905125" y="4810125"/>
              <a:ext cx="666900" cy="666900"/>
            </a:xfrm>
            <a:prstGeom prst="ellipse">
              <a:avLst/>
            </a:prstGeom>
            <a:solidFill>
              <a:srgbClr val="1C1C1E"/>
            </a:solidFill>
            <a:ln cap="flat" cmpd="sng" w="9525">
              <a:solidFill>
                <a:srgbClr val="4A7DB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9"/>
            <p:cNvSpPr txBox="1"/>
            <p:nvPr/>
          </p:nvSpPr>
          <p:spPr>
            <a:xfrm>
              <a:off x="2905125" y="48101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10">
                  <a:solidFill>
                    <a:srgbClr val="FFFFFF"/>
                  </a:solidFill>
                  <a:latin typeface="Urbanist"/>
                  <a:ea typeface="Urbanist"/>
                  <a:cs typeface="Urbanist"/>
                  <a:sym typeface="Urbanist"/>
                </a:rPr>
                <a:t>FAN</a:t>
              </a:r>
              <a:endParaRPr b="1" sz="1110">
                <a:solidFill>
                  <a:srgbClr val="FFFFFF"/>
                </a:solidFill>
                <a:latin typeface="Urbanist"/>
                <a:ea typeface="Urbanist"/>
                <a:cs typeface="Urbanist"/>
                <a:sym typeface="Urbanist"/>
              </a:endParaRPr>
            </a:p>
          </p:txBody>
        </p:sp>
        <p:sp>
          <p:nvSpPr>
            <p:cNvPr id="172" name="Google Shape;172;p19"/>
            <p:cNvSpPr/>
            <p:nvPr/>
          </p:nvSpPr>
          <p:spPr>
            <a:xfrm>
              <a:off x="1571625" y="4048125"/>
              <a:ext cx="666900" cy="666900"/>
            </a:xfrm>
            <a:prstGeom prst="ellipse">
              <a:avLst/>
            </a:prstGeom>
            <a:solidFill>
              <a:srgbClr val="1C1C1E"/>
            </a:solidFill>
            <a:ln cap="flat" cmpd="sng" w="9525">
              <a:solidFill>
                <a:srgbClr val="4A7DB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1571625" y="40481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10">
                  <a:solidFill>
                    <a:srgbClr val="FFFFFF"/>
                  </a:solidFill>
                  <a:latin typeface="Urbanist"/>
                  <a:ea typeface="Urbanist"/>
                  <a:cs typeface="Urbanist"/>
                  <a:sym typeface="Urbanist"/>
                </a:rPr>
                <a:t>FAN</a:t>
              </a:r>
              <a:endParaRPr b="1" sz="1110">
                <a:solidFill>
                  <a:srgbClr val="FFFFFF"/>
                </a:solidFill>
                <a:latin typeface="Urbanist"/>
                <a:ea typeface="Urbanist"/>
                <a:cs typeface="Urbanist"/>
                <a:sym typeface="Urbanist"/>
              </a:endParaRPr>
            </a:p>
          </p:txBody>
        </p:sp>
        <p:sp>
          <p:nvSpPr>
            <p:cNvPr id="174" name="Google Shape;174;p19"/>
            <p:cNvSpPr/>
            <p:nvPr/>
          </p:nvSpPr>
          <p:spPr>
            <a:xfrm>
              <a:off x="1571625" y="2524125"/>
              <a:ext cx="666900" cy="666900"/>
            </a:xfrm>
            <a:prstGeom prst="ellipse">
              <a:avLst/>
            </a:prstGeom>
            <a:solidFill>
              <a:srgbClr val="1C1C1E"/>
            </a:solidFill>
            <a:ln cap="flat" cmpd="sng" w="9525">
              <a:solidFill>
                <a:srgbClr val="4A7DB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9"/>
            <p:cNvSpPr txBox="1"/>
            <p:nvPr/>
          </p:nvSpPr>
          <p:spPr>
            <a:xfrm>
              <a:off x="1571625" y="25241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10">
                  <a:solidFill>
                    <a:srgbClr val="FFFFFF"/>
                  </a:solidFill>
                  <a:latin typeface="Urbanist"/>
                  <a:ea typeface="Urbanist"/>
                  <a:cs typeface="Urbanist"/>
                  <a:sym typeface="Urbanist"/>
                </a:rPr>
                <a:t>CREATOR</a:t>
              </a:r>
              <a:endParaRPr b="1" sz="1110">
                <a:solidFill>
                  <a:srgbClr val="FFFFFF"/>
                </a:solidFill>
                <a:latin typeface="Urbanist"/>
                <a:ea typeface="Urbanist"/>
                <a:cs typeface="Urbanist"/>
                <a:sym typeface="Urbanist"/>
              </a:endParaRPr>
            </a:p>
          </p:txBody>
        </p:sp>
      </p:grpSp>
      <p:sp>
        <p:nvSpPr>
          <p:cNvPr id="176" name="Google Shape;176;p19"/>
          <p:cNvSpPr txBox="1"/>
          <p:nvPr/>
        </p:nvSpPr>
        <p:spPr>
          <a:xfrm>
            <a:off x="6286500" y="1524000"/>
            <a:ext cx="5143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FFFFFF"/>
                </a:solidFill>
                <a:latin typeface="Urbanist"/>
                <a:ea typeface="Urbanist"/>
                <a:cs typeface="Urbanist"/>
                <a:sym typeface="Urbanist"/>
              </a:rPr>
              <a:t>ファンがエコシステムの一部に</a:t>
            </a:r>
            <a:endParaRPr b="1" sz="2000">
              <a:solidFill>
                <a:srgbClr val="FFFFFF"/>
              </a:solidFill>
              <a:latin typeface="Urbanist"/>
              <a:ea typeface="Urbanist"/>
              <a:cs typeface="Urbanist"/>
              <a:sym typeface="Urbanist"/>
            </a:endParaRPr>
          </a:p>
        </p:txBody>
      </p:sp>
      <p:sp>
        <p:nvSpPr>
          <p:cNvPr id="177" name="Google Shape;177;p19"/>
          <p:cNvSpPr txBox="1"/>
          <p:nvPr/>
        </p:nvSpPr>
        <p:spPr>
          <a:xfrm>
            <a:off x="6286500" y="2000250"/>
            <a:ext cx="5143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600">
                <a:solidFill>
                  <a:srgbClr val="A1A1A6"/>
                </a:solidFill>
                <a:latin typeface="Urbanist Light"/>
                <a:ea typeface="Urbanist Light"/>
                <a:cs typeface="Urbanist Light"/>
                <a:sym typeface="Urbanist Light"/>
              </a:rPr>
              <a:t>アーティストは「支配者」ではなくコミュニティの「触媒（カタリスト）」へと変化します。</a:t>
            </a:r>
            <a:endParaRPr b="0" sz="1600">
              <a:solidFill>
                <a:srgbClr val="A1A1A6"/>
              </a:solidFill>
              <a:latin typeface="Urbanist Light"/>
              <a:ea typeface="Urbanist Light"/>
              <a:cs typeface="Urbanist Light"/>
              <a:sym typeface="Urbanist Light"/>
            </a:endParaRPr>
          </a:p>
        </p:txBody>
      </p:sp>
      <p:sp>
        <p:nvSpPr>
          <p:cNvPr id="178" name="Google Shape;178;p19"/>
          <p:cNvSpPr/>
          <p:nvPr/>
        </p:nvSpPr>
        <p:spPr>
          <a:xfrm>
            <a:off x="6286500" y="3048000"/>
            <a:ext cx="4953000" cy="1905000"/>
          </a:xfrm>
          <a:prstGeom prst="roundRect">
            <a:avLst>
              <a:gd fmla="val 6000" name="adj"/>
            </a:avLst>
          </a:prstGeom>
          <a:solidFill>
            <a:srgbClr val="1C1C1E"/>
          </a:solidFill>
          <a:ln cap="flat" cmpd="sng" w="9525">
            <a:solidFill>
              <a:srgbClr val="2C2C2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9"/>
          <p:cNvSpPr txBox="1"/>
          <p:nvPr/>
        </p:nvSpPr>
        <p:spPr>
          <a:xfrm>
            <a:off x="6524625" y="3286125"/>
            <a:ext cx="4476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FFFFFF"/>
                </a:solidFill>
                <a:latin typeface="Urbanist SemiBold"/>
                <a:ea typeface="Urbanist SemiBold"/>
                <a:cs typeface="Urbanist SemiBold"/>
                <a:sym typeface="Urbanist SemiBold"/>
              </a:rPr>
              <a:t>価値の分配構造</a:t>
            </a:r>
            <a:endParaRPr b="0" sz="1400">
              <a:solidFill>
                <a:srgbClr val="FFFFFF"/>
              </a:solidFill>
              <a:latin typeface="Urbanist SemiBold"/>
              <a:ea typeface="Urbanist SemiBold"/>
              <a:cs typeface="Urbanist SemiBold"/>
              <a:sym typeface="Urbanist SemiBold"/>
            </a:endParaRPr>
          </a:p>
        </p:txBody>
      </p:sp>
      <p:sp>
        <p:nvSpPr>
          <p:cNvPr id="180" name="Google Shape;180;p19"/>
          <p:cNvSpPr txBox="1"/>
          <p:nvPr/>
        </p:nvSpPr>
        <p:spPr>
          <a:xfrm>
            <a:off x="6524625" y="3714750"/>
            <a:ext cx="1238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A1A1A6"/>
                </a:solidFill>
                <a:latin typeface="Urbanist"/>
                <a:ea typeface="Urbanist"/>
                <a:cs typeface="Urbanist"/>
                <a:sym typeface="Urbanist"/>
              </a:rPr>
              <a:t>コミュニティ還元</a:t>
            </a:r>
            <a:endParaRPr b="0" sz="1100">
              <a:solidFill>
                <a:srgbClr val="A1A1A6"/>
              </a:solidFill>
              <a:latin typeface="Urbanist"/>
              <a:ea typeface="Urbanist"/>
              <a:cs typeface="Urbanist"/>
              <a:sym typeface="Urbanist"/>
            </a:endParaRPr>
          </a:p>
        </p:txBody>
      </p:sp>
      <p:sp>
        <p:nvSpPr>
          <p:cNvPr id="181" name="Google Shape;181;p19"/>
          <p:cNvSpPr/>
          <p:nvPr/>
        </p:nvSpPr>
        <p:spPr>
          <a:xfrm>
            <a:off x="7858125" y="3762375"/>
            <a:ext cx="3143400" cy="95400"/>
          </a:xfrm>
          <a:prstGeom prst="roundRect">
            <a:avLst>
              <a:gd fmla="val 50000" name="adj"/>
            </a:avLst>
          </a:prstGeom>
          <a:solidFill>
            <a:srgbClr val="2C2C2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9"/>
          <p:cNvSpPr/>
          <p:nvPr/>
        </p:nvSpPr>
        <p:spPr>
          <a:xfrm>
            <a:off x="7858125" y="3762375"/>
            <a:ext cx="2667000" cy="95400"/>
          </a:xfrm>
          <a:prstGeom prst="roundRect">
            <a:avLst>
              <a:gd fmla="val 50000" name="adj"/>
            </a:avLst>
          </a:prstGeom>
          <a:solidFill>
            <a:srgbClr val="0071E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9"/>
          <p:cNvSpPr txBox="1"/>
          <p:nvPr/>
        </p:nvSpPr>
        <p:spPr>
          <a:xfrm>
            <a:off x="6524625" y="4095750"/>
            <a:ext cx="1238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A1A1A6"/>
                </a:solidFill>
                <a:latin typeface="Urbanist"/>
                <a:ea typeface="Urbanist"/>
                <a:cs typeface="Urbanist"/>
                <a:sym typeface="Urbanist"/>
              </a:rPr>
              <a:t>アーティスト報酬</a:t>
            </a:r>
            <a:endParaRPr b="0" sz="1100">
              <a:solidFill>
                <a:srgbClr val="A1A1A6"/>
              </a:solidFill>
              <a:latin typeface="Urbanist"/>
              <a:ea typeface="Urbanist"/>
              <a:cs typeface="Urbanist"/>
              <a:sym typeface="Urbanist"/>
            </a:endParaRPr>
          </a:p>
        </p:txBody>
      </p:sp>
      <p:sp>
        <p:nvSpPr>
          <p:cNvPr id="184" name="Google Shape;184;p19"/>
          <p:cNvSpPr/>
          <p:nvPr/>
        </p:nvSpPr>
        <p:spPr>
          <a:xfrm>
            <a:off x="7858125" y="4143375"/>
            <a:ext cx="3143400" cy="95400"/>
          </a:xfrm>
          <a:prstGeom prst="roundRect">
            <a:avLst>
              <a:gd fmla="val 50000" name="adj"/>
            </a:avLst>
          </a:prstGeom>
          <a:solidFill>
            <a:srgbClr val="2C2C2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9"/>
          <p:cNvSpPr/>
          <p:nvPr/>
        </p:nvSpPr>
        <p:spPr>
          <a:xfrm>
            <a:off x="7858125" y="4143375"/>
            <a:ext cx="1428900" cy="95400"/>
          </a:xfrm>
          <a:prstGeom prst="roundRect">
            <a:avLst>
              <a:gd fmla="val 50000" name="adj"/>
            </a:avLst>
          </a:prstGeom>
          <a:solidFill>
            <a:srgbClr val="4A7DB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9"/>
          <p:cNvSpPr txBox="1"/>
          <p:nvPr/>
        </p:nvSpPr>
        <p:spPr>
          <a:xfrm>
            <a:off x="6286500" y="5143500"/>
            <a:ext cx="5143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US" sz="1100">
                <a:solidFill>
                  <a:srgbClr val="636366"/>
                </a:solidFill>
                <a:latin typeface="Urbanist Light"/>
                <a:ea typeface="Urbanist Light"/>
                <a:cs typeface="Urbanist Light"/>
                <a:sym typeface="Urbanist Light"/>
              </a:rPr>
              <a:t>※価値の再分配モデル例：FiNANCiEやWeb3モデル</a:t>
            </a:r>
            <a:endParaRPr b="0" i="1" sz="1100">
              <a:solidFill>
                <a:srgbClr val="636366"/>
              </a:solidFill>
              <a:latin typeface="Urbanist Light"/>
              <a:ea typeface="Urbanist Light"/>
              <a:cs typeface="Urbanist Light"/>
              <a:sym typeface="Urbanist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90" name="Shape 190"/>
        <p:cNvGrpSpPr/>
        <p:nvPr/>
      </p:nvGrpSpPr>
      <p:grpSpPr>
        <a:xfrm>
          <a:off x="0" y="0"/>
          <a:ext cx="0" cy="0"/>
          <a:chOff x="0" y="0"/>
          <a:chExt cx="0" cy="0"/>
        </a:xfrm>
      </p:grpSpPr>
      <p:pic>
        <p:nvPicPr>
          <p:cNvPr descr="image.png" id="191" name="Google Shape;19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2" name="Google Shape;192;p20"/>
          <p:cNvPicPr preferRelativeResize="0"/>
          <p:nvPr/>
        </p:nvPicPr>
        <p:blipFill rotWithShape="1">
          <a:blip r:embed="rId4">
            <a:alphaModFix/>
          </a:blip>
          <a:srcRect b="0" l="0" r="0" t="0"/>
          <a:stretch/>
        </p:blipFill>
        <p:spPr>
          <a:xfrm>
            <a:off x="6381750" y="1562100"/>
            <a:ext cx="5048250" cy="5086350"/>
          </a:xfrm>
          <a:prstGeom prst="rect">
            <a:avLst/>
          </a:prstGeom>
          <a:noFill/>
          <a:ln>
            <a:noFill/>
          </a:ln>
        </p:spPr>
      </p:pic>
      <p:pic>
        <p:nvPicPr>
          <p:cNvPr descr="image.png" id="193" name="Google Shape;193;p20"/>
          <p:cNvPicPr preferRelativeResize="0"/>
          <p:nvPr/>
        </p:nvPicPr>
        <p:blipFill rotWithShape="1">
          <a:blip r:embed="rId5">
            <a:alphaModFix/>
          </a:blip>
          <a:srcRect b="0" l="0" r="0" t="0"/>
          <a:stretch/>
        </p:blipFill>
        <p:spPr>
          <a:xfrm>
            <a:off x="762000" y="1562100"/>
            <a:ext cx="2428875" cy="2447925"/>
          </a:xfrm>
          <a:prstGeom prst="rect">
            <a:avLst/>
          </a:prstGeom>
          <a:noFill/>
          <a:ln>
            <a:noFill/>
          </a:ln>
        </p:spPr>
      </p:pic>
      <p:pic>
        <p:nvPicPr>
          <p:cNvPr descr="image.png" id="194" name="Google Shape;194;p20"/>
          <p:cNvPicPr preferRelativeResize="0"/>
          <p:nvPr/>
        </p:nvPicPr>
        <p:blipFill rotWithShape="1">
          <a:blip r:embed="rId5">
            <a:alphaModFix/>
          </a:blip>
          <a:srcRect b="0" l="0" r="0" t="0"/>
          <a:stretch/>
        </p:blipFill>
        <p:spPr>
          <a:xfrm>
            <a:off x="3381375" y="1562100"/>
            <a:ext cx="2428875" cy="2447925"/>
          </a:xfrm>
          <a:prstGeom prst="rect">
            <a:avLst/>
          </a:prstGeom>
          <a:noFill/>
          <a:ln>
            <a:noFill/>
          </a:ln>
        </p:spPr>
      </p:pic>
      <p:pic>
        <p:nvPicPr>
          <p:cNvPr descr="image.png" id="195" name="Google Shape;195;p20"/>
          <p:cNvPicPr preferRelativeResize="0"/>
          <p:nvPr/>
        </p:nvPicPr>
        <p:blipFill rotWithShape="1">
          <a:blip r:embed="rId6">
            <a:alphaModFix/>
          </a:blip>
          <a:srcRect b="0" l="0" r="0" t="0"/>
          <a:stretch/>
        </p:blipFill>
        <p:spPr>
          <a:xfrm>
            <a:off x="762000" y="4200525"/>
            <a:ext cx="2428875" cy="2447925"/>
          </a:xfrm>
          <a:prstGeom prst="rect">
            <a:avLst/>
          </a:prstGeom>
          <a:noFill/>
          <a:ln>
            <a:noFill/>
          </a:ln>
        </p:spPr>
      </p:pic>
      <p:pic>
        <p:nvPicPr>
          <p:cNvPr descr="image.png" id="196" name="Google Shape;196;p20"/>
          <p:cNvPicPr preferRelativeResize="0"/>
          <p:nvPr/>
        </p:nvPicPr>
        <p:blipFill rotWithShape="1">
          <a:blip r:embed="rId7">
            <a:alphaModFix/>
          </a:blip>
          <a:srcRect b="0" l="0" r="0" t="0"/>
          <a:stretch/>
        </p:blipFill>
        <p:spPr>
          <a:xfrm>
            <a:off x="3381375" y="4200525"/>
            <a:ext cx="2428875" cy="2447925"/>
          </a:xfrm>
          <a:prstGeom prst="rect">
            <a:avLst/>
          </a:prstGeom>
          <a:noFill/>
          <a:ln>
            <a:noFill/>
          </a:ln>
        </p:spPr>
      </p:pic>
      <p:pic>
        <p:nvPicPr>
          <p:cNvPr descr="image.png" id="197" name="Google Shape;197;p20"/>
          <p:cNvPicPr preferRelativeResize="0"/>
          <p:nvPr/>
        </p:nvPicPr>
        <p:blipFill rotWithShape="1">
          <a:blip r:embed="rId8">
            <a:alphaModFix/>
          </a:blip>
          <a:srcRect b="0" l="0" r="0" t="0"/>
          <a:stretch/>
        </p:blipFill>
        <p:spPr>
          <a:xfrm>
            <a:off x="6391275" y="1571625"/>
            <a:ext cx="5029200" cy="5067300"/>
          </a:xfrm>
          <a:prstGeom prst="rect">
            <a:avLst/>
          </a:prstGeom>
          <a:noFill/>
          <a:ln>
            <a:noFill/>
          </a:ln>
        </p:spPr>
      </p:pic>
      <p:pic>
        <p:nvPicPr>
          <p:cNvPr descr="image.png" id="198" name="Google Shape;198;p20"/>
          <p:cNvPicPr preferRelativeResize="0"/>
          <p:nvPr/>
        </p:nvPicPr>
        <p:blipFill rotWithShape="1">
          <a:blip r:embed="rId9">
            <a:alphaModFix/>
          </a:blip>
          <a:srcRect b="0" l="0" r="0" t="0"/>
          <a:stretch/>
        </p:blipFill>
        <p:spPr>
          <a:xfrm>
            <a:off x="962025" y="1762125"/>
            <a:ext cx="2028825" cy="304800"/>
          </a:xfrm>
          <a:prstGeom prst="rect">
            <a:avLst/>
          </a:prstGeom>
          <a:noFill/>
          <a:ln>
            <a:noFill/>
          </a:ln>
        </p:spPr>
      </p:pic>
      <p:pic>
        <p:nvPicPr>
          <p:cNvPr descr="image.png" id="199" name="Google Shape;199;p20"/>
          <p:cNvPicPr preferRelativeResize="0"/>
          <p:nvPr/>
        </p:nvPicPr>
        <p:blipFill rotWithShape="1">
          <a:blip r:embed="rId10">
            <a:alphaModFix/>
          </a:blip>
          <a:srcRect b="0" l="0" r="0" t="0"/>
          <a:stretch/>
        </p:blipFill>
        <p:spPr>
          <a:xfrm>
            <a:off x="3581400" y="1762125"/>
            <a:ext cx="2028825" cy="304800"/>
          </a:xfrm>
          <a:prstGeom prst="rect">
            <a:avLst/>
          </a:prstGeom>
          <a:noFill/>
          <a:ln>
            <a:noFill/>
          </a:ln>
        </p:spPr>
      </p:pic>
      <p:pic>
        <p:nvPicPr>
          <p:cNvPr descr="image.png" id="200" name="Google Shape;200;p20"/>
          <p:cNvPicPr preferRelativeResize="0"/>
          <p:nvPr/>
        </p:nvPicPr>
        <p:blipFill rotWithShape="1">
          <a:blip r:embed="rId11">
            <a:alphaModFix/>
          </a:blip>
          <a:srcRect b="0" l="0" r="0" t="0"/>
          <a:stretch/>
        </p:blipFill>
        <p:spPr>
          <a:xfrm>
            <a:off x="962025" y="4400550"/>
            <a:ext cx="2028825" cy="304800"/>
          </a:xfrm>
          <a:prstGeom prst="rect">
            <a:avLst/>
          </a:prstGeom>
          <a:noFill/>
          <a:ln>
            <a:noFill/>
          </a:ln>
        </p:spPr>
      </p:pic>
      <p:pic>
        <p:nvPicPr>
          <p:cNvPr descr="image.png" id="201" name="Google Shape;201;p20"/>
          <p:cNvPicPr preferRelativeResize="0"/>
          <p:nvPr/>
        </p:nvPicPr>
        <p:blipFill rotWithShape="1">
          <a:blip r:embed="rId12">
            <a:alphaModFix/>
          </a:blip>
          <a:srcRect b="0" l="0" r="0" t="0"/>
          <a:stretch/>
        </p:blipFill>
        <p:spPr>
          <a:xfrm>
            <a:off x="3581400" y="4400550"/>
            <a:ext cx="2028825" cy="304800"/>
          </a:xfrm>
          <a:prstGeom prst="rect">
            <a:avLst/>
          </a:prstGeom>
          <a:noFill/>
          <a:ln>
            <a:noFill/>
          </a:ln>
        </p:spPr>
      </p:pic>
      <p:sp>
        <p:nvSpPr>
          <p:cNvPr id="202" name="Google Shape;202;p20"/>
          <p:cNvSpPr txBox="1"/>
          <p:nvPr/>
        </p:nvSpPr>
        <p:spPr>
          <a:xfrm>
            <a:off x="990600" y="571500"/>
            <a:ext cx="10961370"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5F5F7"/>
                </a:solidFill>
                <a:latin typeface="Urbanist"/>
                <a:ea typeface="Urbanist"/>
                <a:cs typeface="Urbanist"/>
                <a:sym typeface="Urbanist"/>
              </a:rPr>
              <a:t>Fan-to-Earn のメカニズム</a:t>
            </a:r>
            <a:endParaRPr/>
          </a:p>
        </p:txBody>
      </p:sp>
      <p:sp>
        <p:nvSpPr>
          <p:cNvPr id="203" name="Google Shape;203;p20"/>
          <p:cNvSpPr/>
          <p:nvPr/>
        </p:nvSpPr>
        <p:spPr>
          <a:xfrm>
            <a:off x="762000" y="571500"/>
            <a:ext cx="38100" cy="609600"/>
          </a:xfrm>
          <a:prstGeom prst="rect">
            <a:avLst/>
          </a:prstGeom>
          <a:solidFill>
            <a:srgbClr val="007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0"/>
          <p:cNvSpPr txBox="1"/>
          <p:nvPr/>
        </p:nvSpPr>
        <p:spPr>
          <a:xfrm>
            <a:off x="962025" y="2219325"/>
            <a:ext cx="213026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共創 (Co-Creation)</a:t>
            </a:r>
            <a:endParaRPr/>
          </a:p>
        </p:txBody>
      </p:sp>
      <p:sp>
        <p:nvSpPr>
          <p:cNvPr id="205" name="Google Shape;205;p20"/>
          <p:cNvSpPr txBox="1"/>
          <p:nvPr/>
        </p:nvSpPr>
        <p:spPr>
          <a:xfrm>
            <a:off x="962025" y="2676525"/>
            <a:ext cx="2028825"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A1A1A6"/>
                </a:solidFill>
                <a:latin typeface="Urbanist Light"/>
                <a:ea typeface="Urbanist Light"/>
                <a:cs typeface="Urbanist Light"/>
                <a:sym typeface="Urbanist Light"/>
              </a:rPr>
              <a:t>ファンがプロンプトや意見を出し、AIで作品の一部を共に作る。</a:t>
            </a:r>
            <a:endParaRPr/>
          </a:p>
        </p:txBody>
      </p:sp>
      <p:sp>
        <p:nvSpPr>
          <p:cNvPr id="206" name="Google Shape;206;p20"/>
          <p:cNvSpPr txBox="1"/>
          <p:nvPr/>
        </p:nvSpPr>
        <p:spPr>
          <a:xfrm>
            <a:off x="3581400" y="2219325"/>
            <a:ext cx="213026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資産化</a:t>
            </a:r>
            <a:endParaRPr/>
          </a:p>
        </p:txBody>
      </p:sp>
      <p:sp>
        <p:nvSpPr>
          <p:cNvPr id="207" name="Google Shape;207;p20"/>
          <p:cNvSpPr txBox="1"/>
          <p:nvPr/>
        </p:nvSpPr>
        <p:spPr>
          <a:xfrm>
            <a:off x="3581400" y="2676525"/>
            <a:ext cx="2028825"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A1A1A6"/>
                </a:solidFill>
                <a:latin typeface="Urbanist Light"/>
                <a:ea typeface="Urbanist Light"/>
                <a:cs typeface="Urbanist Light"/>
                <a:sym typeface="Urbanist Light"/>
              </a:rPr>
              <a:t>トークンやNFTを通じて、コミュニティの成長が資産価値に直結。</a:t>
            </a:r>
            <a:endParaRPr/>
          </a:p>
        </p:txBody>
      </p:sp>
      <p:sp>
        <p:nvSpPr>
          <p:cNvPr id="208" name="Google Shape;208;p20"/>
          <p:cNvSpPr txBox="1"/>
          <p:nvPr/>
        </p:nvSpPr>
        <p:spPr>
          <a:xfrm>
            <a:off x="962025" y="4857750"/>
            <a:ext cx="213026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貢献の可視化</a:t>
            </a:r>
            <a:endParaRPr/>
          </a:p>
        </p:txBody>
      </p:sp>
      <p:sp>
        <p:nvSpPr>
          <p:cNvPr id="209" name="Google Shape;209;p20"/>
          <p:cNvSpPr txBox="1"/>
          <p:nvPr/>
        </p:nvSpPr>
        <p:spPr>
          <a:xfrm>
            <a:off x="962025" y="5314950"/>
            <a:ext cx="2028825"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A1A1A6"/>
                </a:solidFill>
                <a:latin typeface="Urbanist Light"/>
                <a:ea typeface="Urbanist Light"/>
                <a:cs typeface="Urbanist Light"/>
                <a:sym typeface="Urbanist Light"/>
              </a:rPr>
              <a:t>AIがファンの貢献（拡散、フィードバック）をトラッキングし報酬化。</a:t>
            </a:r>
            <a:endParaRPr/>
          </a:p>
        </p:txBody>
      </p:sp>
      <p:sp>
        <p:nvSpPr>
          <p:cNvPr id="210" name="Google Shape;210;p20"/>
          <p:cNvSpPr txBox="1"/>
          <p:nvPr/>
        </p:nvSpPr>
        <p:spPr>
          <a:xfrm>
            <a:off x="3581400" y="4857750"/>
            <a:ext cx="213026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還元</a:t>
            </a:r>
            <a:endParaRPr/>
          </a:p>
        </p:txBody>
      </p:sp>
      <p:sp>
        <p:nvSpPr>
          <p:cNvPr id="211" name="Google Shape;211;p20"/>
          <p:cNvSpPr txBox="1"/>
          <p:nvPr/>
        </p:nvSpPr>
        <p:spPr>
          <a:xfrm>
            <a:off x="3581400" y="5314950"/>
            <a:ext cx="202882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Urbanist Light"/>
                <a:ea typeface="Urbanist Light"/>
                <a:cs typeface="Urbanist Light"/>
                <a:sym typeface="Urbanist Light"/>
              </a:rPr>
              <a:t>コミュニティIPの収益を貢献度に応じて再分配。</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15" name="Shape 215"/>
        <p:cNvGrpSpPr/>
        <p:nvPr/>
      </p:nvGrpSpPr>
      <p:grpSpPr>
        <a:xfrm>
          <a:off x="0" y="0"/>
          <a:ext cx="0" cy="0"/>
          <a:chOff x="0" y="0"/>
          <a:chExt cx="0" cy="0"/>
        </a:xfrm>
      </p:grpSpPr>
      <p:pic>
        <p:nvPicPr>
          <p:cNvPr descr="image.png" id="216" name="Google Shape;216;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7" name="Google Shape;217;p21"/>
          <p:cNvSpPr/>
          <p:nvPr/>
        </p:nvSpPr>
        <p:spPr>
          <a:xfrm>
            <a:off x="762000" y="2571750"/>
            <a:ext cx="10668000" cy="27051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18" name="Google Shape;218;p21"/>
          <p:cNvGraphicFramePr/>
          <p:nvPr/>
        </p:nvGraphicFramePr>
        <p:xfrm>
          <a:off x="762000" y="2571750"/>
          <a:ext cx="3000000" cy="3000000"/>
        </p:xfrm>
        <a:graphic>
          <a:graphicData uri="http://schemas.openxmlformats.org/drawingml/2006/table">
            <a:tbl>
              <a:tblPr bandRow="1" firstRow="1">
                <a:noFill/>
                <a:tableStyleId>{EED2525E-79A3-4F8D-B454-6BD239A1ED6D}</a:tableStyleId>
              </a:tblPr>
              <a:tblGrid>
                <a:gridCol w="2478875"/>
                <a:gridCol w="3803150"/>
                <a:gridCol w="4385975"/>
              </a:tblGrid>
              <a:tr h="676275">
                <a:tc>
                  <a:txBody>
                    <a:bodyPr/>
                    <a:lstStyle/>
                    <a:p>
                      <a:pPr indent="0" lvl="0" marL="0" marR="0" rtl="0" algn="l">
                        <a:spcBef>
                          <a:spcPts val="0"/>
                        </a:spcBef>
                        <a:spcAft>
                          <a:spcPts val="0"/>
                        </a:spcAft>
                        <a:buNone/>
                      </a:pPr>
                      <a:r>
                        <a:rPr b="1" i="0" lang="en-US" sz="1500" u="none" cap="none" strike="noStrike">
                          <a:solidFill>
                            <a:srgbClr val="FFFFFF"/>
                          </a:solidFill>
                          <a:latin typeface="Urbanist"/>
                          <a:ea typeface="Urbanist"/>
                          <a:cs typeface="Urbanist"/>
                          <a:sym typeface="Urbanist"/>
                        </a:rPr>
                        <a:t>プラットフォーム</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FFFFFF"/>
                          </a:solidFill>
                          <a:latin typeface="Urbanist"/>
                          <a:ea typeface="Urbanist"/>
                          <a:cs typeface="Urbanist"/>
                          <a:sym typeface="Urbanist"/>
                        </a:rPr>
                        <a:t>還元の仕組み</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FFFFFF"/>
                          </a:solidFill>
                          <a:latin typeface="Urbanist"/>
                          <a:ea typeface="Urbanist"/>
                          <a:cs typeface="Urbanist"/>
                          <a:sym typeface="Urbanist"/>
                        </a:rPr>
                        <a:t>AIの役割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6275">
                <a:tc>
                  <a:txBody>
                    <a:bodyPr/>
                    <a:lstStyle/>
                    <a:p>
                      <a:pPr indent="0" lvl="0" marL="0" marR="0" rtl="0" algn="l">
                        <a:spcBef>
                          <a:spcPts val="0"/>
                        </a:spcBef>
                        <a:spcAft>
                          <a:spcPts val="0"/>
                        </a:spcAft>
                        <a:buNone/>
                      </a:pPr>
                      <a:r>
                        <a:rPr b="1" i="0" lang="en-US" sz="1200" u="none" cap="none" strike="noStrike">
                          <a:solidFill>
                            <a:srgbClr val="FFFFFF"/>
                          </a:solidFill>
                          <a:latin typeface="Urbanist"/>
                          <a:ea typeface="Urbanist"/>
                          <a:cs typeface="Urbanist"/>
                          <a:sym typeface="Urbanist"/>
                        </a:rPr>
                        <a:t>FiNANCiE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トークンによる共創と経済還元</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コミュニティ管理・コンテンツ生成補助</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6275">
                <a:tc>
                  <a:txBody>
                    <a:bodyPr/>
                    <a:lstStyle/>
                    <a:p>
                      <a:pPr indent="0" lvl="0" marL="0" marR="0" rtl="0" algn="l">
                        <a:spcBef>
                          <a:spcPts val="0"/>
                        </a:spcBef>
                        <a:spcAft>
                          <a:spcPts val="0"/>
                        </a:spcAft>
                        <a:buNone/>
                      </a:pPr>
                      <a:r>
                        <a:rPr b="1" i="0" lang="en-US" sz="1200" u="none" cap="none" strike="noStrike">
                          <a:solidFill>
                            <a:srgbClr val="FFFFFF"/>
                          </a:solidFill>
                          <a:latin typeface="Urbanist"/>
                          <a:ea typeface="Urbanist"/>
                          <a:cs typeface="Urbanist"/>
                          <a:sym typeface="Urbanist"/>
                        </a:rPr>
                        <a:t>Roblox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消費者がクリエイターとなり収益化</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低コストな3Dアセット生成・開発支援</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6275">
                <a:tc>
                  <a:txBody>
                    <a:bodyPr/>
                    <a:lstStyle/>
                    <a:p>
                      <a:pPr indent="0" lvl="0" marL="0" marR="0" rtl="0" algn="l">
                        <a:spcBef>
                          <a:spcPts val="0"/>
                        </a:spcBef>
                        <a:spcAft>
                          <a:spcPts val="0"/>
                        </a:spcAft>
                        <a:buNone/>
                      </a:pPr>
                      <a:r>
                        <a:rPr b="1" i="0" lang="en-US" sz="1200" u="none" cap="none" strike="noStrike">
                          <a:solidFill>
                            <a:srgbClr val="FFFFFF"/>
                          </a:solidFill>
                          <a:latin typeface="Urbanist"/>
                          <a:ea typeface="Urbanist"/>
                          <a:cs typeface="Urbanist"/>
                          <a:sym typeface="Urbanist"/>
                        </a:rPr>
                        <a:t>Spotify/UMG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ファンによるAIリミックスの収益分配</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権利を保護した上でのファン生成コンテンツ</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19" name="Google Shape;219;p21"/>
          <p:cNvSpPr txBox="1"/>
          <p:nvPr/>
        </p:nvSpPr>
        <p:spPr>
          <a:xfrm>
            <a:off x="990600" y="571500"/>
            <a:ext cx="10961370"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5F5F7"/>
                </a:solidFill>
                <a:latin typeface="Urbanist"/>
                <a:ea typeface="Urbanist"/>
                <a:cs typeface="Urbanist"/>
                <a:sym typeface="Urbanist"/>
              </a:rPr>
              <a:t>既に動き出している実例</a:t>
            </a:r>
            <a:endParaRPr/>
          </a:p>
        </p:txBody>
      </p:sp>
      <p:sp>
        <p:nvSpPr>
          <p:cNvPr id="220" name="Google Shape;220;p21"/>
          <p:cNvSpPr/>
          <p:nvPr/>
        </p:nvSpPr>
        <p:spPr>
          <a:xfrm>
            <a:off x="762000" y="571500"/>
            <a:ext cx="38100" cy="609600"/>
          </a:xfrm>
          <a:prstGeom prst="rect">
            <a:avLst/>
          </a:prstGeom>
          <a:solidFill>
            <a:srgbClr val="007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24" name="Shape 224"/>
        <p:cNvGrpSpPr/>
        <p:nvPr/>
      </p:nvGrpSpPr>
      <p:grpSpPr>
        <a:xfrm>
          <a:off x="0" y="0"/>
          <a:ext cx="0" cy="0"/>
          <a:chOff x="0" y="0"/>
          <a:chExt cx="0" cy="0"/>
        </a:xfrm>
      </p:grpSpPr>
      <p:pic>
        <p:nvPicPr>
          <p:cNvPr descr="image.png" id="225" name="Google Shape;22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6" name="Google Shape;226;p22"/>
          <p:cNvPicPr preferRelativeResize="0"/>
          <p:nvPr/>
        </p:nvPicPr>
        <p:blipFill rotWithShape="1">
          <a:blip r:embed="rId4">
            <a:alphaModFix/>
          </a:blip>
          <a:srcRect b="0" l="0" r="0" t="0"/>
          <a:stretch/>
        </p:blipFill>
        <p:spPr>
          <a:xfrm>
            <a:off x="5600700" y="1562100"/>
            <a:ext cx="6400800" cy="2219325"/>
          </a:xfrm>
          <a:prstGeom prst="rect">
            <a:avLst/>
          </a:prstGeom>
          <a:noFill/>
          <a:ln>
            <a:noFill/>
          </a:ln>
        </p:spPr>
      </p:pic>
      <p:pic>
        <p:nvPicPr>
          <p:cNvPr descr="image.png" id="227" name="Google Shape;227;p22"/>
          <p:cNvPicPr preferRelativeResize="0"/>
          <p:nvPr/>
        </p:nvPicPr>
        <p:blipFill rotWithShape="1">
          <a:blip r:embed="rId5">
            <a:alphaModFix/>
          </a:blip>
          <a:srcRect b="0" l="0" r="0" t="0"/>
          <a:stretch/>
        </p:blipFill>
        <p:spPr>
          <a:xfrm>
            <a:off x="5600700" y="4067175"/>
            <a:ext cx="6400800" cy="2219325"/>
          </a:xfrm>
          <a:prstGeom prst="rect">
            <a:avLst/>
          </a:prstGeom>
          <a:noFill/>
          <a:ln>
            <a:noFill/>
          </a:ln>
        </p:spPr>
      </p:pic>
      <p:sp>
        <p:nvSpPr>
          <p:cNvPr id="228" name="Google Shape;228;p22"/>
          <p:cNvSpPr txBox="1"/>
          <p:nvPr/>
        </p:nvSpPr>
        <p:spPr>
          <a:xfrm>
            <a:off x="1852612" y="3074640"/>
            <a:ext cx="2085975"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000" u="none" cap="none" strike="noStrike">
                <a:solidFill>
                  <a:srgbClr val="0071E3"/>
                </a:solidFill>
                <a:latin typeface="Urbanist"/>
                <a:ea typeface="Urbanist"/>
                <a:cs typeface="Urbanist"/>
                <a:sym typeface="Urbanist"/>
              </a:rPr>
              <a:t>YES</a:t>
            </a:r>
            <a:endParaRPr/>
          </a:p>
        </p:txBody>
      </p:sp>
      <p:sp>
        <p:nvSpPr>
          <p:cNvPr id="229" name="Google Shape;229;p22"/>
          <p:cNvSpPr txBox="1"/>
          <p:nvPr/>
        </p:nvSpPr>
        <p:spPr>
          <a:xfrm>
            <a:off x="990600" y="571500"/>
            <a:ext cx="10961370"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5F5F7"/>
                </a:solidFill>
                <a:latin typeface="Urbanist"/>
                <a:ea typeface="Urbanist"/>
                <a:cs typeface="Urbanist"/>
                <a:sym typeface="Urbanist"/>
              </a:rPr>
              <a:t>ビジネスモデルの実現可能性</a:t>
            </a:r>
            <a:endParaRPr/>
          </a:p>
        </p:txBody>
      </p:sp>
      <p:sp>
        <p:nvSpPr>
          <p:cNvPr id="230" name="Google Shape;230;p22"/>
          <p:cNvSpPr/>
          <p:nvPr/>
        </p:nvSpPr>
        <p:spPr>
          <a:xfrm>
            <a:off x="762000" y="571500"/>
            <a:ext cx="38100" cy="609600"/>
          </a:xfrm>
          <a:prstGeom prst="rect">
            <a:avLst/>
          </a:prstGeom>
          <a:solidFill>
            <a:srgbClr val="007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2"/>
          <p:cNvSpPr txBox="1"/>
          <p:nvPr/>
        </p:nvSpPr>
        <p:spPr>
          <a:xfrm>
            <a:off x="1262062" y="4408140"/>
            <a:ext cx="32670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FFFFFF"/>
                </a:solidFill>
                <a:latin typeface="Urbanist Light"/>
                <a:ea typeface="Urbanist Light"/>
                <a:cs typeface="Urbanist Light"/>
                <a:sym typeface="Urbanist Light"/>
              </a:rPr>
              <a:t>成り立つか？：</a:t>
            </a:r>
            <a:r>
              <a:rPr b="0" i="0" lang="en-US" sz="1800" u="none" cap="none" strike="noStrike">
                <a:solidFill>
                  <a:srgbClr val="FFFFFF"/>
                </a:solidFill>
                <a:latin typeface="Urbanist SemiBold"/>
                <a:ea typeface="Urbanist SemiBold"/>
                <a:cs typeface="Urbanist SemiBold"/>
                <a:sym typeface="Urbanist SemiBold"/>
              </a:rPr>
              <a:t>大いに成り立つ</a:t>
            </a:r>
            <a:endParaRPr/>
          </a:p>
        </p:txBody>
      </p:sp>
      <p:sp>
        <p:nvSpPr>
          <p:cNvPr id="232" name="Google Shape;232;p22"/>
          <p:cNvSpPr txBox="1"/>
          <p:nvPr/>
        </p:nvSpPr>
        <p:spPr>
          <a:xfrm>
            <a:off x="5915025" y="1876425"/>
            <a:ext cx="577215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コンテンツ供給が飽和するAI時代において、</a:t>
            </a:r>
            <a:r>
              <a:rPr b="0" i="0" lang="en-US" sz="1650" u="none" cap="none" strike="noStrike">
                <a:solidFill>
                  <a:srgbClr val="FFFFFF"/>
                </a:solidFill>
                <a:latin typeface="Urbanist SemiBold"/>
                <a:ea typeface="Urbanist SemiBold"/>
                <a:cs typeface="Urbanist SemiBold"/>
                <a:sym typeface="Urbanist SemiBold"/>
              </a:rPr>
              <a:t>「熱狂的なファンの関心」</a:t>
            </a:r>
            <a:r>
              <a:rPr b="0" i="0" lang="en-US" sz="1650" u="none" cap="none" strike="noStrike">
                <a:solidFill>
                  <a:srgbClr val="A1A1A6"/>
                </a:solidFill>
                <a:latin typeface="Urbanist Light"/>
                <a:ea typeface="Urbanist Light"/>
                <a:cs typeface="Urbanist Light"/>
                <a:sym typeface="Urbanist Light"/>
              </a:rPr>
              <a:t>こそが最も希少な資源となります。これに報いるモデルは、今後のデファクト・スタンダードとなります。</a:t>
            </a:r>
            <a:endParaRPr/>
          </a:p>
        </p:txBody>
      </p:sp>
      <p:sp>
        <p:nvSpPr>
          <p:cNvPr id="233" name="Google Shape;233;p22"/>
          <p:cNvSpPr txBox="1"/>
          <p:nvPr/>
        </p:nvSpPr>
        <p:spPr>
          <a:xfrm>
            <a:off x="5915025" y="4381500"/>
            <a:ext cx="5772150"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外部から資本を入れ、内部で価値を循環させる</a:t>
            </a:r>
            <a:r>
              <a:rPr b="0" i="0" lang="en-US" sz="1650" u="none" cap="none" strike="noStrike">
                <a:solidFill>
                  <a:srgbClr val="FFFFFF"/>
                </a:solidFill>
                <a:latin typeface="Urbanist SemiBold"/>
                <a:ea typeface="Urbanist SemiBold"/>
                <a:cs typeface="Urbanist SemiBold"/>
                <a:sym typeface="Urbanist SemiBold"/>
              </a:rPr>
              <a:t>「価値の蒸留所」</a:t>
            </a:r>
            <a:r>
              <a:rPr b="0" i="0" lang="en-US" sz="1650" u="none" cap="none" strike="noStrike">
                <a:solidFill>
                  <a:srgbClr val="A1A1A6"/>
                </a:solidFill>
                <a:latin typeface="Urbanist Light"/>
                <a:ea typeface="Urbanist Light"/>
                <a:cs typeface="Urbanist Light"/>
                <a:sym typeface="Urbanist Light"/>
              </a:rPr>
              <a:t>として機能させることで、持続可能なエコシステムが構築可能です。</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37" name="Shape 237"/>
        <p:cNvGrpSpPr/>
        <p:nvPr/>
      </p:nvGrpSpPr>
      <p:grpSpPr>
        <a:xfrm>
          <a:off x="0" y="0"/>
          <a:ext cx="0" cy="0"/>
          <a:chOff x="0" y="0"/>
          <a:chExt cx="0" cy="0"/>
        </a:xfrm>
      </p:grpSpPr>
      <p:pic>
        <p:nvPicPr>
          <p:cNvPr descr="image.png" id="238" name="Google Shape;238;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9" name="Google Shape;239;p23"/>
          <p:cNvPicPr preferRelativeResize="0"/>
          <p:nvPr/>
        </p:nvPicPr>
        <p:blipFill rotWithShape="1">
          <a:blip r:embed="rId4">
            <a:alphaModFix/>
          </a:blip>
          <a:srcRect b="0" l="0" r="0" t="0"/>
          <a:stretch/>
        </p:blipFill>
        <p:spPr>
          <a:xfrm>
            <a:off x="762000" y="2268140"/>
            <a:ext cx="3365450" cy="3312318"/>
          </a:xfrm>
          <a:prstGeom prst="rect">
            <a:avLst/>
          </a:prstGeom>
          <a:noFill/>
          <a:ln>
            <a:noFill/>
          </a:ln>
        </p:spPr>
      </p:pic>
      <p:pic>
        <p:nvPicPr>
          <p:cNvPr descr="image.png" id="240" name="Google Shape;240;p23"/>
          <p:cNvPicPr preferRelativeResize="0"/>
          <p:nvPr/>
        </p:nvPicPr>
        <p:blipFill rotWithShape="1">
          <a:blip r:embed="rId5">
            <a:alphaModFix/>
          </a:blip>
          <a:srcRect b="0" l="0" r="0" t="0"/>
          <a:stretch/>
        </p:blipFill>
        <p:spPr>
          <a:xfrm>
            <a:off x="4413200" y="2268140"/>
            <a:ext cx="3365450" cy="3312318"/>
          </a:xfrm>
          <a:prstGeom prst="rect">
            <a:avLst/>
          </a:prstGeom>
          <a:noFill/>
          <a:ln>
            <a:noFill/>
          </a:ln>
        </p:spPr>
      </p:pic>
      <p:pic>
        <p:nvPicPr>
          <p:cNvPr descr="image.png" id="241" name="Google Shape;241;p23"/>
          <p:cNvPicPr preferRelativeResize="0"/>
          <p:nvPr/>
        </p:nvPicPr>
        <p:blipFill rotWithShape="1">
          <a:blip r:embed="rId6">
            <a:alphaModFix/>
          </a:blip>
          <a:srcRect b="0" l="0" r="0" t="0"/>
          <a:stretch/>
        </p:blipFill>
        <p:spPr>
          <a:xfrm>
            <a:off x="8064400" y="2268140"/>
            <a:ext cx="3365450" cy="3312318"/>
          </a:xfrm>
          <a:prstGeom prst="rect">
            <a:avLst/>
          </a:prstGeom>
          <a:noFill/>
          <a:ln>
            <a:noFill/>
          </a:ln>
        </p:spPr>
      </p:pic>
      <p:sp>
        <p:nvSpPr>
          <p:cNvPr id="242" name="Google Shape;242;p23"/>
          <p:cNvSpPr txBox="1"/>
          <p:nvPr/>
        </p:nvSpPr>
        <p:spPr>
          <a:xfrm>
            <a:off x="1076325" y="2582465"/>
            <a:ext cx="27368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71E3"/>
                </a:solidFill>
                <a:latin typeface="Urbanist"/>
                <a:ea typeface="Urbanist"/>
                <a:cs typeface="Urbanist"/>
                <a:sym typeface="Urbanist"/>
              </a:rPr>
              <a:t>01</a:t>
            </a:r>
            <a:endParaRPr/>
          </a:p>
        </p:txBody>
      </p:sp>
      <p:sp>
        <p:nvSpPr>
          <p:cNvPr id="243" name="Google Shape;243;p23"/>
          <p:cNvSpPr txBox="1"/>
          <p:nvPr/>
        </p:nvSpPr>
        <p:spPr>
          <a:xfrm>
            <a:off x="4727525" y="2582465"/>
            <a:ext cx="27368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71E3"/>
                </a:solidFill>
                <a:latin typeface="Urbanist"/>
                <a:ea typeface="Urbanist"/>
                <a:cs typeface="Urbanist"/>
                <a:sym typeface="Urbanist"/>
              </a:rPr>
              <a:t>02</a:t>
            </a:r>
            <a:endParaRPr/>
          </a:p>
        </p:txBody>
      </p:sp>
      <p:sp>
        <p:nvSpPr>
          <p:cNvPr id="244" name="Google Shape;244;p23"/>
          <p:cNvSpPr txBox="1"/>
          <p:nvPr/>
        </p:nvSpPr>
        <p:spPr>
          <a:xfrm>
            <a:off x="8378725" y="2582465"/>
            <a:ext cx="27368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71E3"/>
                </a:solidFill>
                <a:latin typeface="Urbanist"/>
                <a:ea typeface="Urbanist"/>
                <a:cs typeface="Urbanist"/>
                <a:sym typeface="Urbanist"/>
              </a:rPr>
              <a:t>03</a:t>
            </a:r>
            <a:endParaRPr/>
          </a:p>
        </p:txBody>
      </p:sp>
      <p:sp>
        <p:nvSpPr>
          <p:cNvPr id="245" name="Google Shape;245;p23"/>
          <p:cNvSpPr txBox="1"/>
          <p:nvPr/>
        </p:nvSpPr>
        <p:spPr>
          <a:xfrm>
            <a:off x="990600" y="571500"/>
            <a:ext cx="10961370"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5F5F7"/>
                </a:solidFill>
                <a:latin typeface="Urbanist"/>
                <a:ea typeface="Urbanist"/>
                <a:cs typeface="Urbanist"/>
                <a:sym typeface="Urbanist"/>
              </a:rPr>
              <a:t>成功のための3つの条件</a:t>
            </a:r>
            <a:endParaRPr/>
          </a:p>
        </p:txBody>
      </p:sp>
      <p:sp>
        <p:nvSpPr>
          <p:cNvPr id="246" name="Google Shape;246;p23"/>
          <p:cNvSpPr/>
          <p:nvPr/>
        </p:nvSpPr>
        <p:spPr>
          <a:xfrm>
            <a:off x="762000" y="571500"/>
            <a:ext cx="38100" cy="609600"/>
          </a:xfrm>
          <a:prstGeom prst="rect">
            <a:avLst/>
          </a:prstGeom>
          <a:solidFill>
            <a:srgbClr val="007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23"/>
          <p:cNvSpPr txBox="1"/>
          <p:nvPr/>
        </p:nvSpPr>
        <p:spPr>
          <a:xfrm>
            <a:off x="1076325" y="3163490"/>
            <a:ext cx="287364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「投資」と「熱量」の分離</a:t>
            </a:r>
            <a:endParaRPr/>
          </a:p>
        </p:txBody>
      </p:sp>
      <p:sp>
        <p:nvSpPr>
          <p:cNvPr id="248" name="Google Shape;248;p23"/>
          <p:cNvSpPr txBox="1"/>
          <p:nvPr/>
        </p:nvSpPr>
        <p:spPr>
          <a:xfrm>
            <a:off x="1076325" y="3620690"/>
            <a:ext cx="273680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投機目的のユーザーではなく、「作品を愛するファン」が優先的に利益を得るインセンティブ設計。</a:t>
            </a:r>
            <a:endParaRPr/>
          </a:p>
        </p:txBody>
      </p:sp>
      <p:sp>
        <p:nvSpPr>
          <p:cNvPr id="249" name="Google Shape;249;p23"/>
          <p:cNvSpPr txBox="1"/>
          <p:nvPr/>
        </p:nvSpPr>
        <p:spPr>
          <a:xfrm>
            <a:off x="4727525" y="3163490"/>
            <a:ext cx="2873640"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貢献度の客観的トラッキング</a:t>
            </a:r>
            <a:endParaRPr/>
          </a:p>
        </p:txBody>
      </p:sp>
      <p:sp>
        <p:nvSpPr>
          <p:cNvPr id="250" name="Google Shape;250;p23"/>
          <p:cNvSpPr txBox="1"/>
          <p:nvPr/>
        </p:nvSpPr>
        <p:spPr>
          <a:xfrm>
            <a:off x="4727525" y="3925490"/>
            <a:ext cx="273680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AIを活用し、誰がコミュニティに真に貢献したかを公平かつ透明に評価する仕組み。</a:t>
            </a:r>
            <a:endParaRPr/>
          </a:p>
        </p:txBody>
      </p:sp>
      <p:sp>
        <p:nvSpPr>
          <p:cNvPr id="251" name="Google Shape;251;p23"/>
          <p:cNvSpPr txBox="1"/>
          <p:nvPr/>
        </p:nvSpPr>
        <p:spPr>
          <a:xfrm>
            <a:off x="8378725" y="3163490"/>
            <a:ext cx="287364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Urbanist"/>
                <a:ea typeface="Urbanist"/>
                <a:cs typeface="Urbanist"/>
                <a:sym typeface="Urbanist"/>
              </a:rPr>
              <a:t>IPの外部収益化</a:t>
            </a:r>
            <a:endParaRPr/>
          </a:p>
        </p:txBody>
      </p:sp>
      <p:sp>
        <p:nvSpPr>
          <p:cNvPr id="252" name="Google Shape;252;p23"/>
          <p:cNvSpPr txBox="1"/>
          <p:nvPr/>
        </p:nvSpPr>
        <p:spPr>
          <a:xfrm>
            <a:off x="8378725" y="3620690"/>
            <a:ext cx="273680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A1A1A6"/>
                </a:solidFill>
                <a:latin typeface="Urbanist Light"/>
                <a:ea typeface="Urbanist Light"/>
                <a:cs typeface="Urbanist Light"/>
                <a:sym typeface="Urbanist Light"/>
              </a:rPr>
              <a:t>内部の分配だけでなく、コミュニティで作ったIPを外に売り、外貨を稼ぐビジネス構造。</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56" name="Shape 256"/>
        <p:cNvGrpSpPr/>
        <p:nvPr/>
      </p:nvGrpSpPr>
      <p:grpSpPr>
        <a:xfrm>
          <a:off x="0" y="0"/>
          <a:ext cx="0" cy="0"/>
          <a:chOff x="0" y="0"/>
          <a:chExt cx="0" cy="0"/>
        </a:xfrm>
      </p:grpSpPr>
      <p:pic>
        <p:nvPicPr>
          <p:cNvPr descr="image.png" id="257" name="Google Shape;257;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8" name="Google Shape;258;p24"/>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image.png" id="259" name="Google Shape;259;p24"/>
          <p:cNvPicPr preferRelativeResize="0"/>
          <p:nvPr/>
        </p:nvPicPr>
        <p:blipFill rotWithShape="1">
          <a:blip r:embed="rId5">
            <a:alphaModFix/>
          </a:blip>
          <a:srcRect b="0" l="0" r="0" t="0"/>
          <a:stretch/>
        </p:blipFill>
        <p:spPr>
          <a:xfrm>
            <a:off x="0" y="0"/>
            <a:ext cx="12192000" cy="6858000"/>
          </a:xfrm>
          <a:prstGeom prst="rect">
            <a:avLst/>
          </a:prstGeom>
          <a:noFill/>
          <a:ln>
            <a:noFill/>
          </a:ln>
        </p:spPr>
      </p:pic>
      <p:sp>
        <p:nvSpPr>
          <p:cNvPr id="260" name="Google Shape;260;p24"/>
          <p:cNvSpPr txBox="1"/>
          <p:nvPr/>
        </p:nvSpPr>
        <p:spPr>
          <a:xfrm>
            <a:off x="2165821" y="2339429"/>
            <a:ext cx="7860357" cy="704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FFFFF"/>
                </a:solidFill>
                <a:latin typeface="Urbanist"/>
                <a:ea typeface="Urbanist"/>
                <a:cs typeface="Urbanist"/>
                <a:sym typeface="Urbanist"/>
              </a:rPr>
              <a:t>Empowering the Collective</a:t>
            </a:r>
            <a:endParaRPr/>
          </a:p>
        </p:txBody>
      </p:sp>
      <p:sp>
        <p:nvSpPr>
          <p:cNvPr id="261" name="Google Shape;261;p24"/>
          <p:cNvSpPr txBox="1"/>
          <p:nvPr/>
        </p:nvSpPr>
        <p:spPr>
          <a:xfrm>
            <a:off x="2286000" y="3330029"/>
            <a:ext cx="7620000" cy="118854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A1A1A6"/>
                </a:solidFill>
                <a:latin typeface="Urbanist Light"/>
                <a:ea typeface="Urbanist Light"/>
                <a:cs typeface="Urbanist Light"/>
                <a:sym typeface="Urbanist Light"/>
              </a:rPr>
              <a:t>ピラミッドを逆さにするということは、アーティストの価値を下げることではありません。むしろ、一人の才能が、何万ものファンの力を借りて「伝説」を共創する、新しい時代の幕開けです。</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65" name="Shape 265"/>
        <p:cNvGrpSpPr/>
        <p:nvPr/>
      </p:nvGrpSpPr>
      <p:grpSpPr>
        <a:xfrm>
          <a:off x="0" y="0"/>
          <a:ext cx="0" cy="0"/>
          <a:chOff x="0" y="0"/>
          <a:chExt cx="0" cy="0"/>
        </a:xfrm>
      </p:grpSpPr>
      <p:pic>
        <p:nvPicPr>
          <p:cNvPr id="266" name="Google Shape;266;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7" name="Google Shape;267;p25"/>
          <p:cNvSpPr txBox="1"/>
          <p:nvPr/>
        </p:nvSpPr>
        <p:spPr>
          <a:xfrm>
            <a:off x="990600" y="571500"/>
            <a:ext cx="10961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5F5F7"/>
                </a:solidFill>
                <a:latin typeface="Urbanist"/>
                <a:ea typeface="Urbanist"/>
                <a:cs typeface="Urbanist"/>
                <a:sym typeface="Urbanist"/>
              </a:rPr>
              <a:t>Image Sources</a:t>
            </a:r>
            <a:endParaRPr/>
          </a:p>
        </p:txBody>
      </p:sp>
      <p:sp>
        <p:nvSpPr>
          <p:cNvPr id="268" name="Google Shape;268;p25"/>
          <p:cNvSpPr/>
          <p:nvPr/>
        </p:nvSpPr>
        <p:spPr>
          <a:xfrm>
            <a:off x="762000" y="571500"/>
            <a:ext cx="38100" cy="523800"/>
          </a:xfrm>
          <a:prstGeom prst="rect">
            <a:avLst/>
          </a:prstGeom>
          <a:solidFill>
            <a:srgbClr val="007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69" name="Google Shape;269;p25"/>
          <p:cNvGrpSpPr/>
          <p:nvPr/>
        </p:nvGrpSpPr>
        <p:grpSpPr>
          <a:xfrm>
            <a:off x="762000" y="1524000"/>
            <a:ext cx="10668000" cy="952500"/>
            <a:chOff x="762000" y="1524000"/>
            <a:chExt cx="10668000" cy="952500"/>
          </a:xfrm>
        </p:grpSpPr>
        <p:sp>
          <p:nvSpPr>
            <p:cNvPr id="270" name="Google Shape;270;p25"/>
            <p:cNvSpPr/>
            <p:nvPr/>
          </p:nvSpPr>
          <p:spPr>
            <a:xfrm>
              <a:off x="762000" y="1524000"/>
              <a:ext cx="10668000" cy="952500"/>
            </a:xfrm>
            <a:prstGeom prst="roundRect">
              <a:avLst>
                <a:gd fmla="val 12000" name="adj"/>
              </a:avLst>
            </a:prstGeom>
            <a:solidFill>
              <a:srgbClr val="1C1C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1" name="Google Shape;271;p25"/>
            <p:cNvPicPr preferRelativeResize="0"/>
            <p:nvPr/>
          </p:nvPicPr>
          <p:blipFill rotWithShape="1">
            <a:blip r:embed="rId4">
              <a:alphaModFix/>
            </a:blip>
            <a:srcRect b="5453" l="0" r="0" t="5453"/>
            <a:stretch/>
          </p:blipFill>
          <p:spPr>
            <a:xfrm>
              <a:off x="952500" y="1619250"/>
              <a:ext cx="1143000" cy="762000"/>
            </a:xfrm>
            <a:prstGeom prst="roundRect">
              <a:avLst>
                <a:gd fmla="val 10000" name="adj"/>
              </a:avLst>
            </a:prstGeom>
            <a:noFill/>
            <a:ln>
              <a:noFill/>
            </a:ln>
          </p:spPr>
        </p:pic>
        <p:sp>
          <p:nvSpPr>
            <p:cNvPr id="272" name="Google Shape;272;p25"/>
            <p:cNvSpPr txBox="1"/>
            <p:nvPr/>
          </p:nvSpPr>
          <p:spPr>
            <a:xfrm>
              <a:off x="2286000" y="1524000"/>
              <a:ext cx="8953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A1A1A6"/>
                  </a:solidFill>
                  <a:latin typeface="Urbanist"/>
                  <a:ea typeface="Urbanist"/>
                  <a:cs typeface="Urbanist"/>
                  <a:sym typeface="Urbanist"/>
                </a:rPr>
                <a:t>https://images.stockcake.com/public/2/f/c/2fc6ce1c-da8a-4798-8a10-c676935a2ea4_large/spotlight-stage-silhouette-stockcake.jpg</a:t>
              </a:r>
              <a:endParaRPr sz="1000">
                <a:solidFill>
                  <a:srgbClr val="A1A1A6"/>
                </a:solidFill>
                <a:latin typeface="Urbanist"/>
                <a:ea typeface="Urbanist"/>
                <a:cs typeface="Urbanist"/>
                <a:sym typeface="Urbanist"/>
              </a:endParaRPr>
            </a:p>
            <a:p>
              <a:pPr indent="0" lvl="0" marL="0" rtl="0" algn="l">
                <a:spcBef>
                  <a:spcPts val="300"/>
                </a:spcBef>
                <a:spcAft>
                  <a:spcPts val="0"/>
                </a:spcAft>
                <a:buNone/>
              </a:pPr>
              <a:r>
                <a:rPr b="0" lang="en-US" sz="1400">
                  <a:solidFill>
                    <a:srgbClr val="FFFFFF"/>
                  </a:solidFill>
                  <a:latin typeface="Urbanist SemiBold"/>
                  <a:ea typeface="Urbanist SemiBold"/>
                  <a:cs typeface="Urbanist SemiBold"/>
                  <a:sym typeface="Urbanist SemiBold"/>
                </a:rPr>
                <a:t>Source: </a:t>
              </a:r>
              <a:r>
                <a:rPr b="0" lang="en-US" sz="1400">
                  <a:solidFill>
                    <a:srgbClr val="0071E3"/>
                  </a:solidFill>
                  <a:latin typeface="Urbanist SemiBold"/>
                  <a:ea typeface="Urbanist SemiBold"/>
                  <a:cs typeface="Urbanist SemiBold"/>
                  <a:sym typeface="Urbanist SemiBold"/>
                </a:rPr>
                <a:t>stockcake.com</a:t>
              </a:r>
              <a:endParaRPr b="0" sz="1400">
                <a:solidFill>
                  <a:srgbClr val="FFFFFF"/>
                </a:solidFill>
                <a:latin typeface="Urbanist SemiBold"/>
                <a:ea typeface="Urbanist SemiBold"/>
                <a:cs typeface="Urbanist SemiBold"/>
                <a:sym typeface="Urbanist SemiBold"/>
              </a:endParaRPr>
            </a:p>
          </p:txBody>
        </p:sp>
      </p:grpSp>
      <p:grpSp>
        <p:nvGrpSpPr>
          <p:cNvPr id="273" name="Google Shape;273;p25"/>
          <p:cNvGrpSpPr/>
          <p:nvPr/>
        </p:nvGrpSpPr>
        <p:grpSpPr>
          <a:xfrm>
            <a:off x="762000" y="2619375"/>
            <a:ext cx="10668000" cy="952500"/>
            <a:chOff x="762000" y="2619375"/>
            <a:chExt cx="10668000" cy="952500"/>
          </a:xfrm>
        </p:grpSpPr>
        <p:sp>
          <p:nvSpPr>
            <p:cNvPr id="274" name="Google Shape;274;p25"/>
            <p:cNvSpPr/>
            <p:nvPr/>
          </p:nvSpPr>
          <p:spPr>
            <a:xfrm>
              <a:off x="762000" y="2619375"/>
              <a:ext cx="10668000" cy="952500"/>
            </a:xfrm>
            <a:prstGeom prst="roundRect">
              <a:avLst>
                <a:gd fmla="val 12000" name="adj"/>
              </a:avLst>
            </a:prstGeom>
            <a:solidFill>
              <a:srgbClr val="1C1C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5" name="Google Shape;275;p25"/>
            <p:cNvPicPr preferRelativeResize="0"/>
            <p:nvPr/>
          </p:nvPicPr>
          <p:blipFill rotWithShape="1">
            <a:blip r:embed="rId5">
              <a:alphaModFix/>
            </a:blip>
            <a:srcRect b="0" l="7497" r="7505" t="0"/>
            <a:stretch/>
          </p:blipFill>
          <p:spPr>
            <a:xfrm>
              <a:off x="952500" y="2714625"/>
              <a:ext cx="1143000" cy="762000"/>
            </a:xfrm>
            <a:prstGeom prst="roundRect">
              <a:avLst>
                <a:gd fmla="val 10000" name="adj"/>
              </a:avLst>
            </a:prstGeom>
            <a:noFill/>
            <a:ln>
              <a:noFill/>
            </a:ln>
          </p:spPr>
        </p:pic>
        <p:sp>
          <p:nvSpPr>
            <p:cNvPr id="276" name="Google Shape;276;p25"/>
            <p:cNvSpPr txBox="1"/>
            <p:nvPr/>
          </p:nvSpPr>
          <p:spPr>
            <a:xfrm>
              <a:off x="2286000" y="2619375"/>
              <a:ext cx="8953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850">
                  <a:solidFill>
                    <a:srgbClr val="A1A1A6"/>
                  </a:solidFill>
                  <a:latin typeface="Urbanist"/>
                  <a:ea typeface="Urbanist"/>
                  <a:cs typeface="Urbanist"/>
                  <a:sym typeface="Urbanist"/>
                </a:rPr>
                <a:t>https://static.vecteezy.com/system/resources/thumbnails/070/674/712/large/minimalist-glowing-neural-network-with-abstract-connections-on-black-background-free-video.jpg</a:t>
              </a:r>
              <a:endParaRPr sz="850">
                <a:solidFill>
                  <a:srgbClr val="A1A1A6"/>
                </a:solidFill>
                <a:latin typeface="Urbanist"/>
                <a:ea typeface="Urbanist"/>
                <a:cs typeface="Urbanist"/>
                <a:sym typeface="Urbanist"/>
              </a:endParaRPr>
            </a:p>
            <a:p>
              <a:pPr indent="0" lvl="0" marL="0" rtl="0" algn="l">
                <a:spcBef>
                  <a:spcPts val="300"/>
                </a:spcBef>
                <a:spcAft>
                  <a:spcPts val="0"/>
                </a:spcAft>
                <a:buNone/>
              </a:pPr>
              <a:r>
                <a:rPr b="0" lang="en-US" sz="1190">
                  <a:solidFill>
                    <a:srgbClr val="FFFFFF"/>
                  </a:solidFill>
                  <a:latin typeface="Urbanist SemiBold"/>
                  <a:ea typeface="Urbanist SemiBold"/>
                  <a:cs typeface="Urbanist SemiBold"/>
                  <a:sym typeface="Urbanist SemiBold"/>
                </a:rPr>
                <a:t>Source: </a:t>
              </a:r>
              <a:r>
                <a:rPr b="0" lang="en-US" sz="1190">
                  <a:solidFill>
                    <a:srgbClr val="0071E3"/>
                  </a:solidFill>
                  <a:latin typeface="Urbanist SemiBold"/>
                  <a:ea typeface="Urbanist SemiBold"/>
                  <a:cs typeface="Urbanist SemiBold"/>
                  <a:sym typeface="Urbanist SemiBold"/>
                </a:rPr>
                <a:t>www.vecteezy.com</a:t>
              </a:r>
              <a:endParaRPr b="0" sz="1190">
                <a:solidFill>
                  <a:srgbClr val="FFFFFF"/>
                </a:solidFill>
                <a:latin typeface="Urbanist SemiBold"/>
                <a:ea typeface="Urbanist SemiBold"/>
                <a:cs typeface="Urbanist SemiBold"/>
                <a:sym typeface="Urbanist SemiBold"/>
              </a:endParaRPr>
            </a:p>
          </p:txBody>
        </p:sp>
      </p:grpSp>
      <p:grpSp>
        <p:nvGrpSpPr>
          <p:cNvPr id="277" name="Google Shape;277;p25"/>
          <p:cNvGrpSpPr/>
          <p:nvPr/>
        </p:nvGrpSpPr>
        <p:grpSpPr>
          <a:xfrm>
            <a:off x="762000" y="3714750"/>
            <a:ext cx="10668000" cy="952500"/>
            <a:chOff x="762000" y="3714750"/>
            <a:chExt cx="10668000" cy="952500"/>
          </a:xfrm>
        </p:grpSpPr>
        <p:sp>
          <p:nvSpPr>
            <p:cNvPr id="278" name="Google Shape;278;p25"/>
            <p:cNvSpPr/>
            <p:nvPr/>
          </p:nvSpPr>
          <p:spPr>
            <a:xfrm>
              <a:off x="762000" y="3714750"/>
              <a:ext cx="10668000" cy="952500"/>
            </a:xfrm>
            <a:prstGeom prst="roundRect">
              <a:avLst>
                <a:gd fmla="val 12000" name="adj"/>
              </a:avLst>
            </a:prstGeom>
            <a:solidFill>
              <a:srgbClr val="1C1C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9" name="Google Shape;279;p25"/>
            <p:cNvPicPr preferRelativeResize="0"/>
            <p:nvPr/>
          </p:nvPicPr>
          <p:blipFill rotWithShape="1">
            <a:blip r:embed="rId6">
              <a:alphaModFix/>
            </a:blip>
            <a:srcRect b="0" l="7497" r="7505" t="0"/>
            <a:stretch/>
          </p:blipFill>
          <p:spPr>
            <a:xfrm>
              <a:off x="952500" y="3810000"/>
              <a:ext cx="1143000" cy="762000"/>
            </a:xfrm>
            <a:prstGeom prst="roundRect">
              <a:avLst>
                <a:gd fmla="val 10000" name="adj"/>
              </a:avLst>
            </a:prstGeom>
            <a:noFill/>
            <a:ln>
              <a:noFill/>
            </a:ln>
          </p:spPr>
        </p:pic>
        <p:sp>
          <p:nvSpPr>
            <p:cNvPr id="280" name="Google Shape;280;p25"/>
            <p:cNvSpPr txBox="1"/>
            <p:nvPr/>
          </p:nvSpPr>
          <p:spPr>
            <a:xfrm>
              <a:off x="2286000" y="3714750"/>
              <a:ext cx="8953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A1A1A6"/>
                  </a:solidFill>
                  <a:latin typeface="Urbanist"/>
                  <a:ea typeface="Urbanist"/>
                  <a:cs typeface="Urbanist"/>
                  <a:sym typeface="Urbanist"/>
                </a:rPr>
                <a:t>https://media.easy-peasy.ai/af19c476-1ba3-4bd4-a6e7-a99aad8bf54a/9d503275-bd8c-453d-bd37-61ed416f4a0e_medium.webp</a:t>
              </a:r>
              <a:endParaRPr sz="1000">
                <a:solidFill>
                  <a:srgbClr val="A1A1A6"/>
                </a:solidFill>
                <a:latin typeface="Urbanist"/>
                <a:ea typeface="Urbanist"/>
                <a:cs typeface="Urbanist"/>
                <a:sym typeface="Urbanist"/>
              </a:endParaRPr>
            </a:p>
            <a:p>
              <a:pPr indent="0" lvl="0" marL="0" rtl="0" algn="l">
                <a:spcBef>
                  <a:spcPts val="300"/>
                </a:spcBef>
                <a:spcAft>
                  <a:spcPts val="0"/>
                </a:spcAft>
                <a:buNone/>
              </a:pPr>
              <a:r>
                <a:rPr b="0" lang="en-US" sz="1400">
                  <a:solidFill>
                    <a:srgbClr val="FFFFFF"/>
                  </a:solidFill>
                  <a:latin typeface="Urbanist SemiBold"/>
                  <a:ea typeface="Urbanist SemiBold"/>
                  <a:cs typeface="Urbanist SemiBold"/>
                  <a:sym typeface="Urbanist SemiBold"/>
                </a:rPr>
                <a:t>Source: </a:t>
              </a:r>
              <a:r>
                <a:rPr b="0" lang="en-US" sz="1400">
                  <a:solidFill>
                    <a:srgbClr val="0071E3"/>
                  </a:solidFill>
                  <a:latin typeface="Urbanist SemiBold"/>
                  <a:ea typeface="Urbanist SemiBold"/>
                  <a:cs typeface="Urbanist SemiBold"/>
                  <a:sym typeface="Urbanist SemiBold"/>
                </a:rPr>
                <a:t>easy-peasy.ai</a:t>
              </a:r>
              <a:endParaRPr b="0" sz="1400">
                <a:solidFill>
                  <a:srgbClr val="FFFFFF"/>
                </a:solidFill>
                <a:latin typeface="Urbanist SemiBold"/>
                <a:ea typeface="Urbanist SemiBold"/>
                <a:cs typeface="Urbanist SemiBold"/>
                <a:sym typeface="Urbanist SemiBold"/>
              </a:endParaRPr>
            </a:p>
          </p:txBody>
        </p:sp>
      </p:grpSp>
      <p:grpSp>
        <p:nvGrpSpPr>
          <p:cNvPr id="281" name="Google Shape;281;p25"/>
          <p:cNvGrpSpPr/>
          <p:nvPr/>
        </p:nvGrpSpPr>
        <p:grpSpPr>
          <a:xfrm>
            <a:off x="762000" y="4810125"/>
            <a:ext cx="10668000" cy="952500"/>
            <a:chOff x="762000" y="4810125"/>
            <a:chExt cx="10668000" cy="952500"/>
          </a:xfrm>
        </p:grpSpPr>
        <p:sp>
          <p:nvSpPr>
            <p:cNvPr id="282" name="Google Shape;282;p25"/>
            <p:cNvSpPr/>
            <p:nvPr/>
          </p:nvSpPr>
          <p:spPr>
            <a:xfrm>
              <a:off x="762000" y="4810125"/>
              <a:ext cx="10668000" cy="952500"/>
            </a:xfrm>
            <a:prstGeom prst="roundRect">
              <a:avLst>
                <a:gd fmla="val 12000" name="adj"/>
              </a:avLst>
            </a:prstGeom>
            <a:solidFill>
              <a:srgbClr val="1C1C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83" name="Google Shape;283;p25"/>
            <p:cNvPicPr preferRelativeResize="0"/>
            <p:nvPr/>
          </p:nvPicPr>
          <p:blipFill rotWithShape="1">
            <a:blip r:embed="rId7">
              <a:alphaModFix/>
            </a:blip>
            <a:srcRect b="11372" l="0" r="0" t="11372"/>
            <a:stretch/>
          </p:blipFill>
          <p:spPr>
            <a:xfrm>
              <a:off x="952500" y="4905375"/>
              <a:ext cx="1143000" cy="762000"/>
            </a:xfrm>
            <a:prstGeom prst="roundRect">
              <a:avLst>
                <a:gd fmla="val 10000" name="adj"/>
              </a:avLst>
            </a:prstGeom>
            <a:noFill/>
            <a:ln>
              <a:noFill/>
            </a:ln>
          </p:spPr>
        </p:pic>
        <p:sp>
          <p:nvSpPr>
            <p:cNvPr id="284" name="Google Shape;284;p25"/>
            <p:cNvSpPr txBox="1"/>
            <p:nvPr/>
          </p:nvSpPr>
          <p:spPr>
            <a:xfrm>
              <a:off x="2286000" y="4810125"/>
              <a:ext cx="8953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A1A1A6"/>
                  </a:solidFill>
                  <a:latin typeface="Urbanist"/>
                  <a:ea typeface="Urbanist"/>
                  <a:cs typeface="Urbanist"/>
                  <a:sym typeface="Urbanist"/>
                </a:rPr>
                <a:t>https://png.pngtree.com/png-vector/20260115/ourlarge/pngtree-golden-ganesha-clipart-logo-minimalist-line-art-icon-png-image_18508154.webp</a:t>
              </a:r>
              <a:endParaRPr sz="1000">
                <a:solidFill>
                  <a:srgbClr val="A1A1A6"/>
                </a:solidFill>
                <a:latin typeface="Urbanist"/>
                <a:ea typeface="Urbanist"/>
                <a:cs typeface="Urbanist"/>
                <a:sym typeface="Urbanist"/>
              </a:endParaRPr>
            </a:p>
            <a:p>
              <a:pPr indent="0" lvl="0" marL="0" rtl="0" algn="l">
                <a:spcBef>
                  <a:spcPts val="300"/>
                </a:spcBef>
                <a:spcAft>
                  <a:spcPts val="0"/>
                </a:spcAft>
                <a:buNone/>
              </a:pPr>
              <a:r>
                <a:rPr b="0" lang="en-US" sz="1400">
                  <a:solidFill>
                    <a:srgbClr val="FFFFFF"/>
                  </a:solidFill>
                  <a:latin typeface="Urbanist SemiBold"/>
                  <a:ea typeface="Urbanist SemiBold"/>
                  <a:cs typeface="Urbanist SemiBold"/>
                  <a:sym typeface="Urbanist SemiBold"/>
                </a:rPr>
                <a:t>Source: </a:t>
              </a:r>
              <a:r>
                <a:rPr b="0" lang="en-US" sz="1400">
                  <a:solidFill>
                    <a:srgbClr val="0071E3"/>
                  </a:solidFill>
                  <a:latin typeface="Urbanist SemiBold"/>
                  <a:ea typeface="Urbanist SemiBold"/>
                  <a:cs typeface="Urbanist SemiBold"/>
                  <a:sym typeface="Urbanist SemiBold"/>
                </a:rPr>
                <a:t>pngtree.com</a:t>
              </a:r>
              <a:endParaRPr b="0" sz="1400">
                <a:solidFill>
                  <a:srgbClr val="FFFFFF"/>
                </a:solidFill>
                <a:latin typeface="Urbanist SemiBold"/>
                <a:ea typeface="Urbanist SemiBold"/>
                <a:cs typeface="Urbanist SemiBold"/>
                <a:sym typeface="Urbanist SemiBold"/>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