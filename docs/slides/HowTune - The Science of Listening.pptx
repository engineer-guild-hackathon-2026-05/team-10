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F7E3E0-2BF9-4ED9-A7DA-3AC1E18B58E7}">
  <a:tblStyle styleId="{74F7E3E0-2BF9-4ED9-A7DA-3AC1E18B58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57598" y="2127850"/>
            <a:ext cx="4876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HowTu</a:t>
            </a:r>
            <a:r>
              <a:rPr b="1" lang="en-US" sz="7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1" i="0" lang="en-US" sz="7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05112" y="3282255"/>
            <a:ext cx="65817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何を聴くかではなく、どう聴いているかでつながる。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11973" y="4547145"/>
            <a:ext cx="15680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OTHELLO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44599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71E3"/>
                </a:solidFill>
                <a:latin typeface="Inter"/>
                <a:ea typeface="Inter"/>
                <a:cs typeface="Inter"/>
                <a:sym typeface="Inter"/>
              </a:rPr>
              <a:t>CHAPTER 01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2941290"/>
            <a:ext cx="116014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Core Vision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0080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主観的な「熱狂」を、科学的に同期させる。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93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14750"/>
            <a:ext cx="52387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2019300"/>
            <a:ext cx="55006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Labeling is not enough.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4193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既存のサービスは「What（曲名・ジャンル）」でしか人を繋げません。しかし、私たちが本当に心を動かされるのは、その曲をどう「体験」したかです。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0288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62025" y="429577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「この瞬間のこのグルーヴが好き」を共有したい。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既存の音楽サービスの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限界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3662"/>
            <a:ext cx="353064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633662"/>
            <a:ext cx="353064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633662"/>
            <a:ext cx="3530649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962025" y="3567112"/>
            <a:ext cx="288707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AirPods Pro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62025" y="4024312"/>
            <a:ext cx="27495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頭部モーションと空間オーディオ座標を完全同期。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721274" y="3567112"/>
            <a:ext cx="288707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iPhone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721274" y="4024312"/>
            <a:ext cx="27495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加速度・ジャイロセンサーで身体の「揺れ」をキャプチャ。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80524" y="3567112"/>
            <a:ext cx="288707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Apple Watch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480524" y="4024312"/>
            <a:ext cx="27495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HealthKitを通じてリアルタイムの心拍変動を取得。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043237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1274" y="3043237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0524" y="3043237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Apple 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Ecosystem</a:t>
            </a: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の活用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62000" y="1195387"/>
            <a:ext cx="4800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ミラーニューロンによる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身体的共鳴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62000" y="2986087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他者の「ノリ」を目にした時、脳内のミラーニューロンは同じ動きをシミュレートします。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62000" y="397668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HowTuneはこの</a:t>
            </a: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「身体感覚のシンクロニシティ」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をバイオメトリクスデータとして可視化し、科学的なマッチングを実現します。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272087"/>
            <a:ext cx="45720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11049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71500" y="50101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※特定楽曲聴取時のバイオデータに基づく推計プロファイル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ホルモンを軸にした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音楽分類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11049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571500" y="57054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1E3"/>
                </a:solidFill>
                <a:latin typeface="Inter"/>
                <a:ea typeface="Inter"/>
                <a:cs typeface="Inter"/>
                <a:sym typeface="Inter"/>
              </a:rPr>
              <a:t>楽曲タイムライン上の「Groove Score」推移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リアルタイム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・グルーヴ解析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523875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162300"/>
            <a:ext cx="52387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647825"/>
            <a:ext cx="369272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6381750" y="1924050"/>
            <a:ext cx="55006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「なぜ」を言葉にする。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81750" y="23622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感知された生理反応をもとに、Claude AIがあなたに問いかけます。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381750" y="51244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あなたの直感的な反応を、一生モノの「聴き方カード」へと変換します。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772275" y="374332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「このビートで心拍が上がりました。どんな情景が浮かびましたか？」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AIが創る 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Card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5030" y="2781300"/>
            <a:ext cx="6855469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71500" y="3067050"/>
            <a:ext cx="58275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0071E3"/>
                </a:solidFill>
                <a:latin typeface="Inter"/>
                <a:ea typeface="Inter"/>
                <a:cs typeface="Inter"/>
                <a:sym typeface="Inter"/>
              </a:rPr>
              <a:t>94%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5155555" y="3171825"/>
            <a:ext cx="637814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Matching Accuracy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5155555" y="3571875"/>
            <a:ext cx="60744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Core MLを用いた独自アルゴリズムにより、ユーザー間の身体的なシンクロ率を極めて高い精度で検出。直感を超えた「繋がり」を提供します。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驚異的な 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Resonance</a:t>
            </a: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精度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7900"/>
            <a:ext cx="11049000" cy="3352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2"/>
          <p:cNvGraphicFramePr/>
          <p:nvPr/>
        </p:nvGraphicFramePr>
        <p:xfrm>
          <a:off x="581025" y="2257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{74F7E3E0-2BF9-4ED9-A7DA-3AC1E18B58E7}</a:tableStyleId>
              </a:tblPr>
              <a:tblGrid>
                <a:gridCol w="2578300"/>
                <a:gridCol w="3312475"/>
                <a:gridCol w="5139175"/>
              </a:tblGrid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比較項目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従来の音楽SNS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HowTune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繋がり軸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曲の好み (What)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身体的な反応 (How)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データ抽出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再生履歴 / 検索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バイオセンサー / AI対話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言語化支援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なし（受動的）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AIによる問いかけ（能動的）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マッチング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静的・統計的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動的・身体的共鳴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2"/>
          <p:cNvSpPr/>
          <p:nvPr/>
        </p:nvSpPr>
        <p:spPr>
          <a:xfrm>
            <a:off x="581025" y="2909887"/>
            <a:ext cx="2578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3159323" y="2909887"/>
            <a:ext cx="3312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6471791" y="2909887"/>
            <a:ext cx="5139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581025" y="3576637"/>
            <a:ext cx="2578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3159323" y="3576637"/>
            <a:ext cx="3312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6471791" y="3576637"/>
            <a:ext cx="5139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581025" y="4243387"/>
            <a:ext cx="2578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3159323" y="4243387"/>
            <a:ext cx="3312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6471791" y="4243387"/>
            <a:ext cx="5139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81025" y="4910137"/>
            <a:ext cx="2578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3159323" y="4910137"/>
            <a:ext cx="3312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6471791" y="4910137"/>
            <a:ext cx="5139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581025" y="5576887"/>
            <a:ext cx="25782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3159323" y="5576887"/>
            <a:ext cx="3312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6471791" y="5576887"/>
            <a:ext cx="5139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既存サービスとの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決定的な違い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456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24087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 txBox="1"/>
          <p:nvPr/>
        </p:nvSpPr>
        <p:spPr>
          <a:xfrm>
            <a:off x="6381750" y="3062287"/>
            <a:ext cx="55006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創造性と技術の共鳴。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6381750" y="35004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PM, iOS, Backend, ML/Designの4名。私たちは「見えない熱狂」を、確実なエンジニアリングで社会に実装します。</a:t>
            </a:r>
            <a:endParaRPr/>
          </a:p>
        </p:txBody>
      </p:sp>
      <p:pic>
        <p:nvPicPr>
          <p:cNvPr descr="image.png" id="207" name="Google Shape;20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95787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09333" y="4395787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6916" y="4395787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</a:t>
            </a:r>
            <a:r>
              <a:rPr b="0" i="0" lang="en-US" sz="3600" u="none" cap="none" strike="noStrike">
                <a:solidFill>
                  <a:srgbClr val="0071E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Othello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1300" y="2026890"/>
            <a:ext cx="6629400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3025616" y="2417415"/>
            <a:ext cx="614076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71E3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3171825" y="3522315"/>
            <a:ext cx="58483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身体の震えを、心震える言葉に。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3171825" y="4268985"/>
            <a:ext cx="5848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www.howtune.io | Engineer Guild Hackathon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/>
          <p:nvPr/>
        </p:nvSpPr>
        <p:spPr>
          <a:xfrm>
            <a:off x="571500" y="172610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270896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71500" y="349374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447660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26994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571500" y="26994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571500" y="34842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71500" y="34842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71500" y="44670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71500" y="44670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71500" y="52518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52518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46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1666875" y="186898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https://substackcdn.com/image/fetch/$s_!fAQJ!,w_1456,c_limit,f_auto,q_auto:good,fl_progressive:steep/https%3A%2F%2Fsubstack-post-media.s3.amazonaws.com%2Fpublic%2Fimages%2Ffdb5bdfb-4f2f-488b-aa60-a6c24912bfba_3024x4032.jpeg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666875" y="231278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substack.com</a:t>
            </a:r>
            <a:endParaRPr/>
          </a:p>
        </p:txBody>
      </p:sp>
      <p:pic>
        <p:nvPicPr>
          <p:cNvPr descr="image.png" id="240" name="Google Shape;24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583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1666875" y="285184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https://png.pngtree.com/png-clipart/20250606/original/pngtree-human-brain-neural-network-connections-3d-render-png-image_21128488.png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666875" y="309755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43" name="Google Shape;24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422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1666875" y="363661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https://img.freepik.com/free-vector/glassmorphism-ui-design-music-application-mobile-ui-kits-frosted-acrylic-mobile-app-vector-template-with-ux-purple-gradient-screens-user-interface-with-artist-playlist-play-button-audio-player_88138-1433.jpg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1666875" y="408042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246" name="Google Shape;24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26024"/>
            <a:ext cx="1090612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1666875" y="461947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https://cdn.dribbble.com/userupload/36532086/file/still-64e21ea9645b4c40f91ea52aee7752b1.png?format=webp&amp;resize=400x300&amp;vertical=center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666875" y="48651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4107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66875" y="540424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https://png.pngtree.com/thumb_back/fw800/background/20251231/pngtree-abstract-wavy-background-sleek-modern-design-with-smooth-black-image_20977921.webp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66875" y="564996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