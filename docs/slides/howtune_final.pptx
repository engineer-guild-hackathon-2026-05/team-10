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645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Inter"/>
              </a:rPr>
              <a:t>HowTune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108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Inter"/>
              </a:rPr>
              <a:t>何を聴くかではなく、どう聴いているかでつながる。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931920"/>
            <a:ext cx="1097280" cy="228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1605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1E3"/>
                </a:solidFill>
                <a:latin typeface="Inter SemiBold"/>
              </a:rPr>
              <a:t>Engineer Guild Hackathon 2026/05  ·  Team Othello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CHAPTER 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Inter"/>
              </a:rPr>
              <a:t>Labeling is not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101772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Inter"/>
              </a:rPr>
              <a:t>既存の音楽サービスは「What（曲名・ジャンル・再生回数）」でしか人を繋げません。
しかし、本当に心が動く瞬間は、聴き方（How）の中にあります。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840480"/>
            <a:ext cx="4937760" cy="219456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97763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99"/>
                </a:solidFill>
                <a:latin typeface="Inter"/>
              </a:rPr>
              <a:t>既存サービス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38912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Inter"/>
              </a:rPr>
              <a:t>What 中心：曲名・ジャンル・再生回数</a:t>
            </a:r>
          </a:p>
          <a:p>
            <a:r>
              <a:rPr sz="1500" b="0">
                <a:solidFill>
                  <a:srgbClr val="888899"/>
                </a:solidFill>
                <a:latin typeface="Inter"/>
              </a:rPr>
              <a:t>✗  「この瞬間の感動」は共有できない</a:t>
            </a:r>
          </a:p>
          <a:p>
            <a:r>
              <a:rPr sz="1500" b="0">
                <a:solidFill>
                  <a:srgbClr val="888899"/>
                </a:solidFill>
                <a:latin typeface="Inter"/>
              </a:rPr>
              <a:t>✗  同じ聴き方の人とは出会えない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840480"/>
            <a:ext cx="4937760" cy="2194560"/>
          </a:xfrm>
          <a:prstGeom prst="rect">
            <a:avLst/>
          </a:prstGeom>
          <a:solidFill>
            <a:srgbClr val="001832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97763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Inter SemiBold"/>
              </a:rPr>
              <a:t>HowTune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38912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Inter"/>
              </a:rPr>
              <a:t>How 中心：歌詞 × 反応 × 聴き方</a:t>
            </a:r>
          </a:p>
          <a:p>
            <a:r>
              <a:rPr sz="1500" b="0">
                <a:solidFill>
                  <a:srgbClr val="FFFFFF"/>
                </a:solidFill>
                <a:latin typeface="Inter"/>
              </a:rPr>
              <a:t>✓  「1:18のあの一節が刺さった」を共有</a:t>
            </a:r>
          </a:p>
          <a:p>
            <a:r>
              <a:rPr sz="1500" b="0">
                <a:solidFill>
                  <a:srgbClr val="FFFFFF"/>
                </a:solidFill>
                <a:latin typeface="Inter"/>
              </a:rPr>
              <a:t>✓  同じ波形を持つ見知らぬ人と出会える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CHAPTER 02 —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The Great Inversion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177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Inter"/>
              </a:rPr>
              <a:t>AIはスキルの希少価値をゼロに近づける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788920"/>
            <a:ext cx="1097280" cy="228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888899"/>
                </a:solidFill>
                <a:latin typeface="Inter"/>
              </a:rPr>
              <a:t>旧時代の価値：「何を作れるか」（スキル） → AIが代替</a:t>
            </a:r>
          </a:p>
          <a:p>
            <a:r>
              <a:rPr sz="1600" b="0">
                <a:solidFill>
                  <a:srgbClr val="FFFFFF"/>
                </a:solidFill>
                <a:latin typeface="Inter"/>
              </a:rPr>
              <a:t/>
            </a:r>
          </a:p>
          <a:p>
            <a:r>
              <a:rPr sz="1900" b="1">
                <a:solidFill>
                  <a:srgbClr val="FFFFFF"/>
                </a:solidFill>
                <a:latin typeface="Inter"/>
              </a:rPr>
              <a:t>新時代の価値：「誰と・どう楽しむか」（コミュニティ・体験）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10177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71E3"/>
                </a:solidFill>
                <a:latin typeface="Inter SemiBold"/>
              </a:rPr>
              <a:t>HowTuneはこのパラダイムシフトのど真ん中にいる。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800600"/>
            <a:ext cx="4937760" cy="146304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9377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88899"/>
                </a:solidFill>
                <a:latin typeface="Inter"/>
              </a:rPr>
              <a:t>旧：ピラミッド型</a:t>
            </a:r>
          </a:p>
          <a:p>
            <a:r>
              <a:rPr sz="1300" b="0">
                <a:solidFill>
                  <a:srgbClr val="888899"/>
                </a:solidFill>
                <a:latin typeface="Inter"/>
              </a:rPr>
              <a:t>アーティストが頂点・ファンは消費者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303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71E3"/>
                </a:solidFill>
                <a:latin typeface="Inter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4800600"/>
            <a:ext cx="4937760" cy="1463040"/>
          </a:xfrm>
          <a:prstGeom prst="rect">
            <a:avLst/>
          </a:prstGeom>
          <a:solidFill>
            <a:srgbClr val="001832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49377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1E3"/>
                </a:solidFill>
                <a:latin typeface="Inter"/>
              </a:rPr>
              <a:t>新：円環型エコシステム</a:t>
            </a:r>
          </a:p>
          <a:p>
            <a:r>
              <a:rPr sz="1300" b="0">
                <a:solidFill>
                  <a:srgbClr val="FFFFFF"/>
                </a:solidFill>
                <a:latin typeface="Inter"/>
              </a:rPr>
              <a:t>ファンの「How」が価値の源泉になる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CHAPTER 03 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Inter"/>
              </a:rPr>
              <a:t>歌詞を「鏡」にする。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177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88899"/>
                </a:solidFill>
                <a:latin typeface="Inter"/>
              </a:rPr>
              <a:t>身体が動いた瞬間に歌詞をタップ → AIが問いかける → How が言語化される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926080"/>
            <a:ext cx="1097280" cy="228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3154680"/>
            <a:ext cx="2011680" cy="265176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11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歌詞タップ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6908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「この一節だ」と感じた瞬間にタップ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3154680"/>
            <a:ext cx="2011680" cy="265176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3611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Groove 記録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406908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音量 × モーションで盛り上がりを自動算出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8656" y="3154680"/>
            <a:ext cx="2011680" cy="265176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1536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1536" y="3611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AI 問いかけ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36" y="406908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Claude がリズム・歌詞を起点に質問。断定しない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3154680"/>
            <a:ext cx="2011680" cy="265176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3611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How カード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406908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対話の結果が一生モノの「聴き方カード」に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91472" y="3154680"/>
            <a:ext cx="2011680" cy="265176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4352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3611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マッチング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406908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同じ歌詞・同じ How に反応した人と出会う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CHAPTER 04 — AI DESIGN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Inter"/>
              </a:rPr>
              <a:t>AIは断定しない。
鏡であること。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88920"/>
            <a:ext cx="10177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99"/>
                </a:solidFill>
                <a:latin typeface="Inter"/>
              </a:rPr>
              <a:t>センサーは事実を捉える。AIは断面を差し出す。意味はユーザーが発見する。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383280"/>
            <a:ext cx="1097280" cy="228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3566160"/>
            <a:ext cx="4754880" cy="246888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3B30"/>
                </a:solidFill>
                <a:latin typeface="Inter"/>
              </a:rPr>
              <a:t>❌  断定する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1605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88899"/>
                </a:solidFill>
                <a:latin typeface="Inter"/>
              </a:rPr>
              <a:t>「あなたはここで感動しました」</a:t>
            </a:r>
          </a:p>
          <a:p>
            <a:r>
              <a:rPr sz="1500" b="0">
                <a:solidFill>
                  <a:srgbClr val="888899"/>
                </a:solidFill>
                <a:latin typeface="Inter"/>
              </a:rPr>
              <a:t>「あなたはベースが好きです」</a:t>
            </a:r>
          </a:p>
          <a:p>
            <a:r>
              <a:rPr sz="1400" b="0">
                <a:solidFill>
                  <a:srgbClr val="888899"/>
                </a:solidFill>
                <a:latin typeface="Inter"/>
              </a:rPr>
              <a:t>→ 断定は対話を閉じる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566160"/>
            <a:ext cx="4754880" cy="2468880"/>
          </a:xfrm>
          <a:prstGeom prst="rect">
            <a:avLst/>
          </a:prstGeom>
          <a:solidFill>
            <a:srgbClr val="001832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7033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1E3"/>
                </a:solidFill>
                <a:latin typeface="Inter SemiBold"/>
              </a:rPr>
              <a:t>✅  HowTune の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Inter"/>
              </a:rPr>
              <a:t>「ここで反応していましたね」</a:t>
            </a:r>
          </a:p>
          <a:p>
            <a:r>
              <a:rPr sz="1500" b="0">
                <a:solidFill>
                  <a:srgbClr val="FFFFFF"/>
                </a:solidFill>
                <a:latin typeface="Inter"/>
              </a:rPr>
              <a:t>「リズムに乗っていた感じ？」</a:t>
            </a:r>
          </a:p>
          <a:p>
            <a:r>
              <a:rPr sz="1500" b="0">
                <a:solidFill>
                  <a:srgbClr val="FFFFFF"/>
                </a:solidFill>
                <a:latin typeface="Inter"/>
              </a:rPr>
              <a:t>「それとも歌詞が刺さった？」</a:t>
            </a:r>
          </a:p>
          <a:p>
            <a:r>
              <a:rPr sz="1400" b="1">
                <a:solidFill>
                  <a:srgbClr val="0071E3"/>
                </a:solidFill>
                <a:latin typeface="Inter"/>
              </a:rPr>
              <a:t>→ 問いかけが言語化を引き出す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CHAPTER 05 —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Inter"/>
              </a:rPr>
              <a:t>Apple Ecosystem × Claude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177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99"/>
                </a:solidFill>
                <a:latin typeface="Inter"/>
              </a:rPr>
              <a:t>iOS ネイティブに一本化（ADR-0001）。センサーからモデルまでオンデバイス優先。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743200"/>
            <a:ext cx="1097280" cy="228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926080"/>
            <a:ext cx="10177272" cy="475488"/>
          </a:xfrm>
          <a:prstGeom prst="rect">
            <a:avLst/>
          </a:prstGeom>
          <a:solidFill>
            <a:srgbClr val="0A0A0A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iOS /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0175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SwiftUI + MusicKit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01752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Inter"/>
              </a:rPr>
              <a:t>ネイティブ必須、Apple Music 連携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401568"/>
            <a:ext cx="10177272" cy="475488"/>
          </a:xfrm>
          <a:prstGeom prst="rect">
            <a:avLst/>
          </a:prstGeom>
          <a:solidFill>
            <a:srgbClr val="000000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9300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歌詞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930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Musixmatch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49300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Inter"/>
              </a:rPr>
              <a:t>時刻同期歌詞（ADR-0004 解決）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877056"/>
            <a:ext cx="10177272" cy="475488"/>
          </a:xfrm>
          <a:prstGeom prst="rect">
            <a:avLst/>
          </a:prstGeom>
          <a:solidFill>
            <a:srgbClr val="0A0A0A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6849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Groove センサー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96849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音量 + 本体モーション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968496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Inter"/>
              </a:rPr>
              <a:t>AirPods 不要でデモ可（ADR-0005）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352544"/>
            <a:ext cx="10177272" cy="475488"/>
          </a:xfrm>
          <a:prstGeom prst="rect">
            <a:avLst/>
          </a:prstGeom>
          <a:solidFill>
            <a:srgbClr val="000000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43984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44398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Claude claude-sonnet-4-6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443984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Inter"/>
              </a:rPr>
              <a:t>バックエンド経由でキー秘匿（ADR-0002）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828032"/>
            <a:ext cx="10177272" cy="475488"/>
          </a:xfrm>
          <a:prstGeom prst="rect">
            <a:avLst/>
          </a:prstGeom>
          <a:solidFill>
            <a:srgbClr val="0A0A0A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1947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9194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Create ML → Core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91947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Inter"/>
              </a:rPr>
              <a:t>端末推論、対話がラベルに（データフライホイール）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303520"/>
            <a:ext cx="10177272" cy="475488"/>
          </a:xfrm>
          <a:prstGeom prst="rect">
            <a:avLst/>
          </a:prstGeom>
          <a:solidFill>
            <a:srgbClr val="000000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39496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3949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Firestore + Node.js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39496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Inter"/>
              </a:rPr>
              <a:t>iOS SDK・リアルタイム同期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CHAPTER 06 — DATA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Inter"/>
              </a:rPr>
              <a:t>対話がデータになる。
データが精度になる。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177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99"/>
                </a:solidFill>
                <a:latin typeface="Inter"/>
              </a:rPr>
              <a:t>AI 対話の回答が暗黙のラベルとなり、モデルが使えば使うほど賢くなる設計。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00400"/>
            <a:ext cx="1097280" cy="228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3383280"/>
            <a:ext cx="1965960" cy="237744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520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音量 + モーション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Groove レベルをリアルタイム算出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1E3"/>
                </a:solidFill>
                <a:latin typeface="Inter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952" y="3383280"/>
            <a:ext cx="1965960" cy="237744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3520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8404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歌詞タップ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438912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文脈付きの反応ポイントを記録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1E3"/>
                </a:solidFill>
                <a:latin typeface="Inter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4064" y="3383280"/>
            <a:ext cx="1965960" cy="237744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3520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38404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AI 対話の回答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438912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暗黙のラベルとして蓄積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1E3"/>
                </a:solidFill>
                <a:latin typeface="Inter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23176" y="3383280"/>
            <a:ext cx="1965960" cy="237744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6056" y="3520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38404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Create ML 学習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6056" y="438912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Groove 精度が向上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416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1E3"/>
                </a:solidFill>
                <a:latin typeface="Inter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62288" y="3383280"/>
            <a:ext cx="1965960" cy="237744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3520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38404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より良い HowCard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4389120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9"/>
                </a:solidFill>
                <a:latin typeface="Inter"/>
              </a:rPr>
              <a:t>より多くの共鳴 → ユーザー増加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5897880"/>
            <a:ext cx="10177272" cy="658368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6007608"/>
            <a:ext cx="9720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88899"/>
                </a:solidFill>
                <a:latin typeface="Inter"/>
              </a:rPr>
              <a:t>MVP（今）: ルールベース Groove  →  Phase 1（〜6ヶ月）: 学習モデル 32次元  →  Phase 2（〜1年）: 個人最適化 128次元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CHAPTER 07 —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Inter"/>
              </a:rPr>
              <a:t>アーティスト・リスナー・
プラットフォームのプラスサム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743200"/>
            <a:ext cx="1097280" cy="228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926080"/>
            <a:ext cx="3200400" cy="338328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1E3"/>
                </a:solidFill>
                <a:latin typeface="Inter SemiBold"/>
              </a:rPr>
              <a:t>B2B
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74903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アーティスト向けインサイト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2976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99"/>
                </a:solidFill>
                <a:latin typeface="Inter"/>
              </a:rPr>
              <a:t>身体反応ヒートマップ
「1:18にGroove集中」
Spotify にないデータで差別化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926080"/>
            <a:ext cx="3200400" cy="338328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C759"/>
                </a:solidFill>
                <a:latin typeface="Inter SemiBold"/>
              </a:rPr>
              <a:t>プレミアム
マッチング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74903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セレンディピティマッチング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2976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99"/>
                </a:solidFill>
                <a:latin typeface="Inter"/>
              </a:rPr>
              <a:t>同曲・同瞬間に反応した
見知らぬ人との出会い
（Premium 解禁）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926080"/>
            <a:ext cx="3200400" cy="338328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F0A"/>
                </a:solidFill>
                <a:latin typeface="Inter SemiBold"/>
              </a:rPr>
              <a:t>チップ
循環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4903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P2Pチップ + アーティスト支援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2976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99"/>
                </a:solidFill>
                <a:latin typeface="Inter"/>
              </a:rPr>
              <a:t>チップ送付者を「発見者」
として可視化
マージン 10%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CHAPTER 08 — TEAM &amp;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Inter"/>
              </a:rPr>
              <a:t>実装済み、動いている。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177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99"/>
                </a:solidFill>
                <a:latin typeface="Inter"/>
              </a:rPr>
              <a:t>Team Othello — PM / iOS / Backend / ML・Design の4名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834640"/>
            <a:ext cx="1097280" cy="228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3017520"/>
            <a:ext cx="4937760" cy="320040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154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C759"/>
                </a:solidFill>
                <a:latin typeface="Inter"/>
              </a:rPr>
              <a:t>✅  実装済み（P0）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1188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Inter"/>
              </a:rPr>
              <a:t>曲再生 × MusicKit</a:t>
            </a:r>
          </a:p>
          <a:p>
            <a:r>
              <a:rPr sz="1400" b="0">
                <a:solidFill>
                  <a:srgbClr val="FFFFFF"/>
                </a:solidFill>
                <a:latin typeface="Inter"/>
              </a:rPr>
              <a:t>時刻同期歌詞（Musixmatch）</a:t>
            </a:r>
          </a:p>
          <a:p>
            <a:r>
              <a:rPr sz="1400" b="0">
                <a:solidFill>
                  <a:srgbClr val="FFFFFF"/>
                </a:solidFill>
                <a:latin typeface="Inter"/>
              </a:rPr>
              <a:t>歌詞タップ → AI 対話（Claude API）</a:t>
            </a:r>
          </a:p>
          <a:p>
            <a:r>
              <a:rPr sz="1400" b="0">
                <a:solidFill>
                  <a:srgbClr val="FFFFFF"/>
                </a:solidFill>
                <a:latin typeface="Inter"/>
              </a:rPr>
              <a:t>Howカード生成・Firestore 保存</a:t>
            </a:r>
          </a:p>
          <a:p>
            <a:r>
              <a:rPr sz="1400" b="0">
                <a:solidFill>
                  <a:srgbClr val="FFFFFF"/>
                </a:solidFill>
                <a:latin typeface="Inter"/>
              </a:rPr>
              <a:t>Groove レベル表示（音量ベース）</a:t>
            </a:r>
          </a:p>
          <a:p>
            <a:r>
              <a:rPr sz="1400" b="0">
                <a:solidFill>
                  <a:srgbClr val="FFFFFF"/>
                </a:solidFill>
                <a:latin typeface="Inter"/>
              </a:rPr>
              <a:t>コミュニティ画面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017520"/>
            <a:ext cx="4937760" cy="3200400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154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88899"/>
                </a:solidFill>
                <a:latin typeface="Inter"/>
              </a:rPr>
              <a:t>🚫  スコープ外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61188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88899"/>
                </a:solidFill>
                <a:latin typeface="Inter"/>
              </a:rPr>
              <a:t>DM・フォロー・タイムライン</a:t>
            </a:r>
          </a:p>
          <a:p>
            <a:r>
              <a:rPr sz="1400" b="0">
                <a:solidFill>
                  <a:srgbClr val="888899"/>
                </a:solidFill>
                <a:latin typeface="Inter"/>
              </a:rPr>
              <a:t>Spotify 連携</a:t>
            </a:r>
          </a:p>
          <a:p>
            <a:r>
              <a:rPr sz="1400" b="0">
                <a:solidFill>
                  <a:srgbClr val="888899"/>
                </a:solidFill>
                <a:latin typeface="Inter"/>
              </a:rPr>
              <a:t>完全な認証フロー</a:t>
            </a:r>
          </a:p>
          <a:p>
            <a:r>
              <a:rPr sz="1400" b="0">
                <a:solidFill>
                  <a:srgbClr val="888899"/>
                </a:solidFill>
                <a:latin typeface="Inter"/>
              </a:rPr>
              <a:t>AirPods 必須センサー精度</a:t>
            </a:r>
          </a:p>
          <a:p>
            <a:r>
              <a:rPr sz="1400" b="0">
                <a:solidFill>
                  <a:srgbClr val="888899"/>
                </a:solidFill>
                <a:latin typeface="Inter"/>
              </a:rPr>
              <a:t>教師データ収集アプリ（別仕様）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1E3"/>
                </a:solidFill>
                <a:latin typeface="Inter SemiBold"/>
              </a:rPr>
              <a:t>CHAPTER 09 —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Inter"/>
              </a:rPr>
              <a:t>誰もやっていない、
3つの掛け合わせ。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788920"/>
            <a:ext cx="1097280" cy="228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880360"/>
            <a:ext cx="10177272" cy="530352"/>
          </a:xfrm>
          <a:prstGeom prst="rect">
            <a:avLst/>
          </a:prstGeom>
          <a:solidFill>
            <a:srgbClr val="001832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97180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Inter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97180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1E3"/>
                </a:solidFill>
                <a:latin typeface="Inter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97180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1E3"/>
                </a:solidFill>
                <a:latin typeface="Inter"/>
              </a:rPr>
              <a:t>Last.fm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97180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1E3"/>
                </a:solidFill>
                <a:latin typeface="Inter"/>
              </a:rPr>
              <a:t>Apple Music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971800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1E3"/>
                </a:solidFill>
                <a:latin typeface="Inter"/>
              </a:rPr>
              <a:t>HowTune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410712"/>
            <a:ext cx="10177272" cy="530352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50215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99"/>
                </a:solidFill>
                <a:latin typeface="Inter"/>
              </a:rPr>
              <a:t>How の言語化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50215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50215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50215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350215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4C759"/>
                </a:solidFill>
                <a:latin typeface="Inter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941064"/>
            <a:ext cx="10177272" cy="530352"/>
          </a:xfrm>
          <a:prstGeom prst="rect">
            <a:avLst/>
          </a:prstGeom>
          <a:solidFill>
            <a:srgbClr val="000000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32504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99"/>
                </a:solidFill>
                <a:latin typeface="Inter"/>
              </a:rPr>
              <a:t>歌詞 × 反応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32504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032504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032504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4032504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4C759"/>
                </a:solidFill>
                <a:latin typeface="Inter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471416"/>
            <a:ext cx="10177272" cy="530352"/>
          </a:xfrm>
          <a:prstGeom prst="rect">
            <a:avLst/>
          </a:prstGeom>
          <a:solidFill>
            <a:srgbClr val="1C1C1E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56285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99"/>
                </a:solidFill>
                <a:latin typeface="Inter"/>
              </a:rPr>
              <a:t>AI 対話 + HowCard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562856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62856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562856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4562856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4C759"/>
                </a:solidFill>
                <a:latin typeface="Inter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5001768"/>
            <a:ext cx="10177272" cy="530352"/>
          </a:xfrm>
          <a:prstGeom prst="rect">
            <a:avLst/>
          </a:prstGeom>
          <a:solidFill>
            <a:srgbClr val="000000"/>
          </a:solidFill>
          <a:ln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09320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99"/>
                </a:solidFill>
                <a:latin typeface="Inter"/>
              </a:rPr>
              <a:t>身体反応マッチング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09320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09320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09320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Inter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509320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4C759"/>
                </a:solidFill>
                <a:latin typeface="Inter"/>
              </a:rPr>
              <a:t>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46304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Inter"/>
              </a:rPr>
              <a:t>音楽は、どう聴くかだ。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0"/>
            <a:ext cx="10177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88899"/>
                </a:solidFill>
                <a:latin typeface="Inter"/>
              </a:rPr>
              <a:t>歌詞が、あなたの How を語り始める。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657600"/>
            <a:ext cx="1097280" cy="228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88899"/>
                </a:solidFill>
                <a:latin typeface="Inter"/>
              </a:rPr>
              <a:t>Phase 1（〜6ヶ月）：アーティスト向け反応ヒートマップ（B2B）</a:t>
            </a:r>
          </a:p>
          <a:p>
            <a:r>
              <a:rPr sz="1500" b="0">
                <a:solidFill>
                  <a:srgbClr val="888899"/>
                </a:solidFill>
                <a:latin typeface="Inter"/>
              </a:rPr>
              <a:t>Phase 2（〜1年）：チップ循環 + Fan-to-Earn エコシステム</a:t>
            </a:r>
          </a:p>
          <a:p>
            <a:r>
              <a:rPr sz="1500" b="0">
                <a:solidFill>
                  <a:srgbClr val="888899"/>
                </a:solidFill>
                <a:latin typeface="Inter"/>
              </a:rPr>
              <a:t>Phase 3（〜2年）：ライブ会場リアルタイム共感 × 個人最適化 How マッチング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897880"/>
            <a:ext cx="10177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1E3"/>
                </a:solidFill>
                <a:latin typeface="Inter SemiBold"/>
              </a:rPr>
              <a:t>HowTune  ·  Team Othello  ·  Engineer Guild Hackathon 2026/05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