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8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66"/>
    <p:restoredTop sz="94659"/>
  </p:normalViewPr>
  <p:slideViewPr>
    <p:cSldViewPr snapToGrid="0" snapToObjects="1">
      <p:cViewPr>
        <p:scale>
          <a:sx n="118" d="100"/>
          <a:sy n="118" d="100"/>
        </p:scale>
        <p:origin x="976" y="8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14884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FFFFFF"/>
                </a:solidFill>
                <a:latin typeface="Inter"/>
              </a:rPr>
              <a:t>HowTune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3794760"/>
            <a:ext cx="3291840" cy="6400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4069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B8B8BE"/>
                </a:solidFill>
                <a:latin typeface="Inter"/>
              </a:rPr>
              <a:t>何を聴くかではなく、どう聴いているか。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893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Inter"/>
              </a:rPr>
              <a:t>Team Othello   ·   Engineer Guild Hackathon 2026/05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THE CORE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628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Inter"/>
              </a:rPr>
              <a:t>つながるのは、曲の「この一点」。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874519"/>
            <a:ext cx="237744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400" y="2377440"/>
            <a:ext cx="10362895" cy="274320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17320" y="2651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Inter"/>
              </a:rPr>
              <a:t>♪  Blinding Lights — The Weeknd</a:t>
            </a:r>
          </a:p>
        </p:txBody>
      </p:sp>
      <p:sp>
        <p:nvSpPr>
          <p:cNvPr id="8" name="Rectangle 7"/>
          <p:cNvSpPr/>
          <p:nvPr/>
        </p:nvSpPr>
        <p:spPr>
          <a:xfrm>
            <a:off x="1417320" y="3611880"/>
            <a:ext cx="9357055" cy="128016"/>
          </a:xfrm>
          <a:prstGeom prst="roundRect">
            <a:avLst>
              <a:gd name="adj" fmla="val 50000"/>
            </a:avLst>
          </a:prstGeom>
          <a:solidFill>
            <a:srgbClr val="33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417320" y="3611880"/>
            <a:ext cx="5801374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7090678" y="3547872"/>
            <a:ext cx="256032" cy="256032"/>
          </a:xfrm>
          <a:prstGeom prst="ellipse">
            <a:avLst/>
          </a:prstGeom>
          <a:solidFill>
            <a:srgbClr val="64D2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15774" y="306324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64D2FF"/>
                </a:solidFill>
                <a:latin typeface="Inter"/>
              </a:rPr>
              <a:t>1:18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4206240"/>
            <a:ext cx="93570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1">
                <a:solidFill>
                  <a:srgbClr val="FFFFFF"/>
                </a:solidFill>
                <a:latin typeface="Inter"/>
              </a:rPr>
              <a:t>“I said, ooh, I'm blinded by the lights”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4663440"/>
            <a:ext cx="93570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64D2FF"/>
                </a:solidFill>
                <a:latin typeface="Inter"/>
              </a:rPr>
              <a:t>●  ●  ●  ●    同じ瞬間に反応した人と出会う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34924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B8BE"/>
                </a:solidFill>
                <a:latin typeface="Inter"/>
              </a:rPr>
              <a:t>曲全体でも、ジャンルでもない。特定の瞬間の歌詞 × 反応で、人とつながる。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Inter"/>
              </a:rPr>
              <a:t>AIが、価値をひっくり返す。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965960"/>
            <a:ext cx="237744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400" y="2606040"/>
            <a:ext cx="4952847" cy="3291840"/>
          </a:xfrm>
          <a:prstGeom prst="roundRect">
            <a:avLst>
              <a:gd name="adj" fmla="val 12000"/>
            </a:avLst>
          </a:prstGeom>
          <a:solidFill>
            <a:srgbClr val="1C1C1E">
              <a:alpha val="40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71600" y="2926080"/>
            <a:ext cx="403844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8E8E93"/>
                </a:solidFill>
                <a:latin typeface="Inter"/>
              </a:rPr>
              <a:t>これまで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566160"/>
            <a:ext cx="4038447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B8B8BE"/>
                </a:solidFill>
                <a:latin typeface="Inter"/>
              </a:rPr>
              <a:t>何を作るか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572000"/>
            <a:ext cx="4038447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8E8E93"/>
                </a:solidFill>
                <a:latin typeface="Inter"/>
              </a:rPr>
              <a:t>スキルの希少性が価値だった。</a:t>
            </a:r>
          </a:p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8E8E93"/>
                </a:solidFill>
                <a:latin typeface="Inter"/>
              </a:rPr>
              <a:t>AIがそれをコモディティ化する。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24447" y="2606040"/>
            <a:ext cx="4952847" cy="329184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061224"/>
              </a:gs>
              <a:gs pos="100000">
                <a:srgbClr val="0E2A52"/>
              </a:gs>
            </a:gsLst>
            <a:lin ang="138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81647" y="2926080"/>
            <a:ext cx="403844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4D2FF"/>
                </a:solidFill>
                <a:latin typeface="Inter"/>
              </a:rPr>
              <a:t>これから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1647" y="3566160"/>
            <a:ext cx="4038447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Inter"/>
              </a:rPr>
              <a:t>どう楽しむか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647" y="4572000"/>
            <a:ext cx="4038447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B8B8BE"/>
                </a:solidFill>
                <a:latin typeface="Inter"/>
              </a:rPr>
              <a:t>体験とコミュニティが最も希少な資源になる。</a:t>
            </a:r>
          </a:p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B8B8BE"/>
                </a:solidFill>
                <a:latin typeface="Inter"/>
              </a:rPr>
              <a:t>HowTune はその中心にいる。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Inter"/>
              </a:rPr>
              <a:t>Labeling is not enough.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2011680"/>
            <a:ext cx="237744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B8BE"/>
                </a:solidFill>
                <a:latin typeface="Inter"/>
              </a:rPr>
              <a:t>既存サービスは「曲名」でしか繋げない。本当の熱狂は、聴き方の中にある。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200400"/>
            <a:ext cx="3210458" cy="274320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566160"/>
            <a:ext cx="321045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FFFFFF"/>
                </a:solidFill>
                <a:latin typeface="Inter"/>
              </a:rPr>
              <a:t>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21045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900" b="1" i="0">
                <a:solidFill>
                  <a:srgbClr val="FFFFFF"/>
                </a:solidFill>
                <a:latin typeface="Inter"/>
              </a:rPr>
              <a:t>歌詞の一節で</a:t>
            </a:r>
          </a:p>
          <a:p>
            <a:pPr algn="ctr">
              <a:lnSpc>
                <a:spcPct val="120000"/>
              </a:lnSpc>
            </a:pPr>
            <a:r>
              <a:rPr sz="1900" b="1" i="0">
                <a:solidFill>
                  <a:srgbClr val="FFFFFF"/>
                </a:solidFill>
                <a:latin typeface="Inter"/>
              </a:rPr>
              <a:t>息が止まる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90618" y="3200400"/>
            <a:ext cx="3210458" cy="274320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90618" y="3566160"/>
            <a:ext cx="321045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FFFFFF"/>
                </a:solidFill>
                <a:latin typeface="Inter"/>
              </a:rPr>
              <a:t>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4572000"/>
            <a:ext cx="321045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900" b="1" i="0">
                <a:solidFill>
                  <a:srgbClr val="FFFFFF"/>
                </a:solidFill>
                <a:latin typeface="Inter"/>
              </a:rPr>
              <a:t>ベースで</a:t>
            </a:r>
          </a:p>
          <a:p>
            <a:pPr algn="ctr">
              <a:lnSpc>
                <a:spcPct val="120000"/>
              </a:lnSpc>
            </a:pPr>
            <a:r>
              <a:rPr sz="1900" b="1" i="0">
                <a:solidFill>
                  <a:srgbClr val="FFFFFF"/>
                </a:solidFill>
                <a:latin typeface="Inter"/>
              </a:rPr>
              <a:t>体が動く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66836" y="3200400"/>
            <a:ext cx="3210458" cy="274320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66836" y="3566160"/>
            <a:ext cx="321045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FFFFFF"/>
                </a:solidFill>
                <a:latin typeface="Inter"/>
              </a:rPr>
              <a:t>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6836" y="4572000"/>
            <a:ext cx="321045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900" b="1" i="0">
                <a:solidFill>
                  <a:srgbClr val="FFFFFF"/>
                </a:solidFill>
                <a:latin typeface="Inter"/>
              </a:rPr>
              <a:t>サビ前の溜めで</a:t>
            </a:r>
          </a:p>
          <a:p>
            <a:pPr algn="ctr">
              <a:lnSpc>
                <a:spcPct val="120000"/>
              </a:lnSpc>
            </a:pPr>
            <a:r>
              <a:rPr sz="1900" b="1" i="0">
                <a:solidFill>
                  <a:srgbClr val="FFFFFF"/>
                </a:solidFill>
                <a:latin typeface="Inter"/>
              </a:rPr>
              <a:t>鳥肌が立つ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628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0" b="1" i="0">
                <a:solidFill>
                  <a:srgbClr val="FFFFFF"/>
                </a:solidFill>
                <a:latin typeface="Inter"/>
              </a:rPr>
              <a:t>歌詞を、鏡に。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520440"/>
            <a:ext cx="292608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3628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2200" b="0">
                <a:solidFill>
                  <a:srgbClr val="B8B8BE"/>
                </a:solidFill>
                <a:latin typeface="Inter"/>
              </a:rPr>
              <a:t>センサーは事実を捉える。</a:t>
            </a:r>
          </a:p>
          <a:p>
            <a:pPr>
              <a:lnSpc>
                <a:spcPct val="135000"/>
              </a:lnSpc>
            </a:pPr>
            <a:r>
              <a:rPr sz="2200" b="0">
                <a:solidFill>
                  <a:srgbClr val="B8B8BE"/>
                </a:solidFill>
                <a:latin typeface="Inter"/>
              </a:rPr>
              <a:t>AIは断面を差し出す。</a:t>
            </a:r>
          </a:p>
          <a:p>
            <a:pPr>
              <a:lnSpc>
                <a:spcPct val="135000"/>
              </a:lnSpc>
            </a:pPr>
            <a:r>
              <a:rPr sz="2200" b="1">
                <a:solidFill>
                  <a:srgbClr val="FFFFFF"/>
                </a:solidFill>
                <a:latin typeface="Inter"/>
              </a:rPr>
              <a:t>意味は、あなたが見つける。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Inter"/>
              </a:rPr>
              <a:t>聴くだけで、体験が言葉になる。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920240"/>
            <a:ext cx="274320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400" y="2606040"/>
            <a:ext cx="1853123" cy="301752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3063240"/>
            <a:ext cx="185312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0" i="0">
                <a:solidFill>
                  <a:srgbClr val="FFFFFF"/>
                </a:solidFill>
                <a:latin typeface="Inter"/>
              </a:rPr>
              <a:t>🎧</a:t>
            </a:r>
          </a:p>
        </p:txBody>
      </p:sp>
      <p:sp>
        <p:nvSpPr>
          <p:cNvPr id="8" name="Rectangle 7"/>
          <p:cNvSpPr/>
          <p:nvPr/>
        </p:nvSpPr>
        <p:spPr>
          <a:xfrm>
            <a:off x="1520921" y="4114800"/>
            <a:ext cx="640080" cy="457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4343400"/>
            <a:ext cx="18531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"/>
              </a:rPr>
              <a:t>聴く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983480"/>
            <a:ext cx="185312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A84FF"/>
                </a:solidFill>
                <a:latin typeface="Inter"/>
              </a:rPr>
              <a:t>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41843" y="2606040"/>
            <a:ext cx="1853123" cy="301752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041843" y="3063240"/>
            <a:ext cx="185312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0" i="0">
                <a:solidFill>
                  <a:srgbClr val="FFFFFF"/>
                </a:solidFill>
                <a:latin typeface="Inter"/>
              </a:rPr>
              <a:t>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48364" y="4114800"/>
            <a:ext cx="640080" cy="457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041843" y="4343400"/>
            <a:ext cx="18531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"/>
              </a:rPr>
              <a:t>タップ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41843" y="4983480"/>
            <a:ext cx="185312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A84FF"/>
                </a:solidFill>
                <a:latin typeface="Inter"/>
              </a:rPr>
              <a:t>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69286" y="2606040"/>
            <a:ext cx="1853123" cy="301752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69286" y="3063240"/>
            <a:ext cx="185312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0" i="0">
                <a:solidFill>
                  <a:srgbClr val="FFFFFF"/>
                </a:solidFill>
                <a:latin typeface="Inter"/>
              </a:rPr>
              <a:t>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75807" y="4114800"/>
            <a:ext cx="640080" cy="457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69286" y="4343400"/>
            <a:ext cx="18531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"/>
              </a:rPr>
              <a:t>Groove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9286" y="4983480"/>
            <a:ext cx="185312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A84FF"/>
                </a:solidFill>
                <a:latin typeface="Inter"/>
              </a:rPr>
              <a:t>03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96729" y="2606040"/>
            <a:ext cx="1853123" cy="301752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296729" y="3063240"/>
            <a:ext cx="185312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0" i="0">
                <a:solidFill>
                  <a:srgbClr val="FFFFFF"/>
                </a:solidFill>
                <a:latin typeface="Inter"/>
              </a:rPr>
              <a:t>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03250" y="4114800"/>
            <a:ext cx="640080" cy="457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296729" y="4343400"/>
            <a:ext cx="18531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"/>
              </a:rPr>
              <a:t>AI 対話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96729" y="4983480"/>
            <a:ext cx="185312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A84FF"/>
                </a:solidFill>
                <a:latin typeface="Inter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24172" y="2606040"/>
            <a:ext cx="1853123" cy="301752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424172" y="3063240"/>
            <a:ext cx="185312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0" i="0">
                <a:solidFill>
                  <a:srgbClr val="FFFFFF"/>
                </a:solidFill>
                <a:latin typeface="Inter"/>
              </a:rPr>
              <a:t>🪪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30693" y="4114800"/>
            <a:ext cx="640080" cy="457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424172" y="4343400"/>
            <a:ext cx="18531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"/>
              </a:rPr>
              <a:t>How Card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24172" y="4983480"/>
            <a:ext cx="185312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A84FF"/>
                </a:solidFill>
                <a:latin typeface="Inter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 i="0">
                <a:solidFill>
                  <a:srgbClr val="FFFFFF"/>
                </a:solidFill>
                <a:latin typeface="Inter"/>
              </a:rPr>
              <a:t>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931920"/>
            <a:ext cx="3657600" cy="7315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425196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8B8BE"/>
                </a:solidFill>
                <a:latin typeface="Inter"/>
              </a:rPr>
              <a:t>実機で、歌詞タップ → AI対話 → HowCard を体験します。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5216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8E8E93"/>
                </a:solidFill>
                <a:latin typeface="Inter"/>
              </a:rPr>
              <a:t>▶ ここに実機スクリーンショット / 画面録画を配置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AI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Inter"/>
              </a:rPr>
              <a:t>断定しない。問いかける。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2011680"/>
            <a:ext cx="237744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400" y="2651760"/>
            <a:ext cx="4952847" cy="3108960"/>
          </a:xfrm>
          <a:prstGeom prst="roundRect">
            <a:avLst>
              <a:gd name="adj" fmla="val 12000"/>
            </a:avLst>
          </a:prstGeom>
          <a:solidFill>
            <a:srgbClr val="1C1C1E">
              <a:alpha val="3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71600" y="292608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453A"/>
                </a:solidFill>
                <a:latin typeface="Inter"/>
              </a:rPr>
              <a:t>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999232"/>
            <a:ext cx="33069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453A"/>
                </a:solidFill>
                <a:latin typeface="Inter"/>
              </a:rPr>
              <a:t>断定する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840480"/>
            <a:ext cx="4038447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800" b="0">
                <a:solidFill>
                  <a:srgbClr val="8E8E93"/>
                </a:solidFill>
                <a:latin typeface="Inter"/>
              </a:rPr>
              <a:t>「あなたは感動しました」</a:t>
            </a:r>
          </a:p>
          <a:p>
            <a:pPr>
              <a:lnSpc>
                <a:spcPct val="150000"/>
              </a:lnSpc>
            </a:pPr>
            <a:r>
              <a:rPr sz="1800" b="0">
                <a:solidFill>
                  <a:srgbClr val="8E8E93"/>
                </a:solidFill>
                <a:latin typeface="Inter"/>
              </a:rPr>
              <a:t>「ベースが好きですね」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24447" y="2651760"/>
            <a:ext cx="4952847" cy="310896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061224"/>
              </a:gs>
              <a:gs pos="100000">
                <a:srgbClr val="0E2A52"/>
              </a:gs>
            </a:gsLst>
            <a:lin ang="138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81647" y="292608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64D2FF"/>
                </a:solidFill>
                <a:latin typeface="Inter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3167" y="2999232"/>
            <a:ext cx="33069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Inter"/>
              </a:rPr>
              <a:t>HowTune の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647" y="3840480"/>
            <a:ext cx="4038447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800" b="0">
                <a:solidFill>
                  <a:srgbClr val="FFFFFF"/>
                </a:solidFill>
                <a:latin typeface="Inter"/>
              </a:rPr>
              <a:t>「ここで反応していましたね」</a:t>
            </a:r>
          </a:p>
          <a:p>
            <a:pPr>
              <a:lnSpc>
                <a:spcPct val="150000"/>
              </a:lnSpc>
            </a:pPr>
            <a:r>
              <a:rPr sz="1800" b="0">
                <a:solidFill>
                  <a:srgbClr val="FFFFFF"/>
                </a:solidFill>
                <a:latin typeface="Inter"/>
              </a:rPr>
              <a:t>「リズム？それとも歌詞？」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THE SCIENCE OF GROOVE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Inter"/>
              </a:rPr>
              <a:t>身体反応を、数値に。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920240"/>
            <a:ext cx="237744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400" y="2377440"/>
            <a:ext cx="10362895" cy="137160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061A36"/>
              </a:gs>
              <a:gs pos="100000">
                <a:srgbClr val="061224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103628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 i="0">
                <a:solidFill>
                  <a:srgbClr val="64D2FF"/>
                </a:solidFill>
                <a:latin typeface="Inter"/>
              </a:rPr>
              <a:t>Groove  =  volume × 0.42  +  pulse × 0.58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E8E93"/>
                </a:solidFill>
                <a:latin typeface="Inter"/>
              </a:rPr>
              <a:t>AirPods 不要。iPhone だけで動く。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206240"/>
            <a:ext cx="1536649" cy="640080"/>
          </a:xfrm>
          <a:prstGeom prst="roundRect">
            <a:avLst>
              <a:gd name="adj" fmla="val 50000"/>
            </a:avLst>
          </a:prstGeom>
          <a:solidFill>
            <a:srgbClr val="0A84FF">
              <a:alpha val="18000"/>
            </a:srgbClr>
          </a:solidFill>
          <a:ln w="12700">
            <a:solidFill>
              <a:srgbClr val="0A84FF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0A84FF"/>
                </a:solidFill>
                <a:latin typeface="Inter"/>
              </a:rPr>
              <a:t>groove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79649" y="4206240"/>
            <a:ext cx="1536649" cy="640080"/>
          </a:xfrm>
          <a:prstGeom prst="roundRect">
            <a:avLst>
              <a:gd name="adj" fmla="val 50000"/>
            </a:avLst>
          </a:prstGeom>
          <a:solidFill>
            <a:srgbClr val="64D2FF">
              <a:alpha val="18000"/>
            </a:srgbClr>
          </a:solidFill>
          <a:ln w="12700">
            <a:solidFill>
              <a:srgbClr val="64D2FF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64D2FF"/>
                </a:solidFill>
                <a:latin typeface="Inter"/>
              </a:rPr>
              <a:t>hype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44898" y="4206240"/>
            <a:ext cx="1536649" cy="640080"/>
          </a:xfrm>
          <a:prstGeom prst="roundRect">
            <a:avLst>
              <a:gd name="adj" fmla="val 50000"/>
            </a:avLst>
          </a:prstGeom>
          <a:solidFill>
            <a:srgbClr val="30D158">
              <a:alpha val="18000"/>
            </a:srgbClr>
          </a:solidFill>
          <a:ln w="12700">
            <a:solidFill>
              <a:srgbClr val="30D15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30D158"/>
                </a:solidFill>
                <a:latin typeface="Inter"/>
              </a:rPr>
              <a:t>chill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4206240"/>
            <a:ext cx="1536649" cy="640080"/>
          </a:xfrm>
          <a:prstGeom prst="roundRect">
            <a:avLst>
              <a:gd name="adj" fmla="val 50000"/>
            </a:avLst>
          </a:prstGeom>
          <a:solidFill>
            <a:srgbClr val="BF5AF2">
              <a:alpha val="18000"/>
            </a:srgbClr>
          </a:solidFill>
          <a:ln w="12700">
            <a:solidFill>
              <a:srgbClr val="BF5AF2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F5AF2"/>
                </a:solidFill>
                <a:latin typeface="Inter"/>
              </a:rPr>
              <a:t>immersion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75396" y="4206240"/>
            <a:ext cx="1536649" cy="640080"/>
          </a:xfrm>
          <a:prstGeom prst="roundRect">
            <a:avLst>
              <a:gd name="adj" fmla="val 50000"/>
            </a:avLst>
          </a:prstGeom>
          <a:solidFill>
            <a:srgbClr val="FF9F0A">
              <a:alpha val="18000"/>
            </a:srgbClr>
          </a:solidFill>
          <a:ln w="12700">
            <a:solidFill>
              <a:srgbClr val="FF9F0A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9F0A"/>
                </a:solidFill>
                <a:latin typeface="Inter"/>
              </a:rPr>
              <a:t>hit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40645" y="4206240"/>
            <a:ext cx="1536649" cy="640080"/>
          </a:xfrm>
          <a:prstGeom prst="roundRect">
            <a:avLst>
              <a:gd name="adj" fmla="val 50000"/>
            </a:avLst>
          </a:prstGeom>
          <a:solidFill>
            <a:srgbClr val="FF375F">
              <a:alpha val="18000"/>
            </a:srgbClr>
          </a:solidFill>
          <a:ln w="12700">
            <a:solidFill>
              <a:srgbClr val="FF375F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375F"/>
                </a:solidFill>
                <a:latin typeface="Inter"/>
              </a:rPr>
              <a:t>afterglow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12064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8B8BE"/>
                </a:solidFill>
                <a:latin typeface="Inter"/>
              </a:rPr>
              <a:t>6軸スコアで「聴き方」を多次元に表現する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THE 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Inter"/>
              </a:rPr>
              <a:t>使うほど、賢くなる。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965960"/>
            <a:ext cx="237744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B8BE"/>
                </a:solidFill>
                <a:latin typeface="Inter"/>
              </a:rPr>
              <a:t>AI対話の回答が、そのまま学習データになる。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200400"/>
            <a:ext cx="1670243" cy="182880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101016"/>
              </a:gs>
              <a:gs pos="100000">
                <a:srgbClr val="06162E"/>
              </a:gs>
            </a:gsLst>
            <a:lin ang="14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6702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A84FF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31920"/>
            <a:ext cx="16702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"/>
              </a:rPr>
              <a:t>タップ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0363" y="38862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A84FF"/>
                </a:solidFill>
                <a:latin typeface="Inter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87563" y="3200400"/>
            <a:ext cx="1670243" cy="182880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101016"/>
              </a:gs>
              <a:gs pos="100000">
                <a:srgbClr val="06162E"/>
              </a:gs>
            </a:gsLst>
            <a:lin ang="14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087563" y="3429000"/>
            <a:ext cx="16702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A84FF"/>
                </a:solidFill>
                <a:latin typeface="Inter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87563" y="3931920"/>
            <a:ext cx="16702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"/>
              </a:rPr>
              <a:t>AI 対話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3526" y="38862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A84FF"/>
                </a:solidFill>
                <a:latin typeface="Inter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60726" y="3200400"/>
            <a:ext cx="1670243" cy="182880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101016"/>
              </a:gs>
              <a:gs pos="100000">
                <a:srgbClr val="06162E"/>
              </a:gs>
            </a:gsLst>
            <a:lin ang="14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60726" y="3429000"/>
            <a:ext cx="16702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A84FF"/>
                </a:solidFill>
                <a:latin typeface="Inter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60726" y="3931920"/>
            <a:ext cx="16702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"/>
              </a:rPr>
              <a:t>学習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6689" y="38862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A84FF"/>
                </a:solidFill>
                <a:latin typeface="Inter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33889" y="3200400"/>
            <a:ext cx="1670243" cy="182880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101016"/>
              </a:gs>
              <a:gs pos="100000">
                <a:srgbClr val="06162E"/>
              </a:gs>
            </a:gsLst>
            <a:lin ang="14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33889" y="3429000"/>
            <a:ext cx="16702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A84FF"/>
                </a:solidFill>
                <a:latin typeface="Inter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33889" y="3931920"/>
            <a:ext cx="16702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"/>
              </a:rPr>
              <a:t>精度向上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9852" y="38862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A84FF"/>
                </a:solidFill>
                <a:latin typeface="Inter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7052" y="3200400"/>
            <a:ext cx="1670243" cy="182880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101016"/>
              </a:gs>
              <a:gs pos="100000">
                <a:srgbClr val="06162E"/>
              </a:gs>
            </a:gsLst>
            <a:lin ang="14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607052" y="3429000"/>
            <a:ext cx="16702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A84FF"/>
                </a:solidFill>
                <a:latin typeface="Inter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7052" y="3931920"/>
            <a:ext cx="16702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"/>
              </a:rPr>
              <a:t>共鳴増加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48640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64D2FF"/>
                </a:solidFill>
                <a:latin typeface="Inter"/>
              </a:rPr>
              <a:t>このデータ資産が、競合の参入障壁になる。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Inter"/>
              </a:rPr>
              <a:t>Apple Ecosystem × Claude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920240"/>
            <a:ext cx="274320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400" y="2468880"/>
            <a:ext cx="3210458" cy="1554480"/>
          </a:xfrm>
          <a:prstGeom prst="roundRect">
            <a:avLst>
              <a:gd name="adj" fmla="val 12000"/>
            </a:avLst>
          </a:prstGeom>
          <a:solidFill>
            <a:srgbClr val="1C1C1E">
              <a:alpha val="40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280160" y="2834640"/>
            <a:ext cx="256032" cy="256032"/>
          </a:xfrm>
          <a:prstGeom prst="ellipse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691640" y="2761488"/>
            <a:ext cx="22960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A84FF"/>
                </a:solidFill>
                <a:latin typeface="Inter"/>
              </a:rPr>
              <a:t>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3337560"/>
            <a:ext cx="2570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Inter"/>
              </a:rPr>
              <a:t>SwiftUI + MusicKit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90618" y="2468880"/>
            <a:ext cx="3210458" cy="1554480"/>
          </a:xfrm>
          <a:prstGeom prst="roundRect">
            <a:avLst>
              <a:gd name="adj" fmla="val 12000"/>
            </a:avLst>
          </a:prstGeom>
          <a:solidFill>
            <a:srgbClr val="1C1C1E">
              <a:alpha val="40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856378" y="2834640"/>
            <a:ext cx="256032" cy="256032"/>
          </a:xfrm>
          <a:prstGeom prst="ellipse">
            <a:avLst/>
          </a:prstGeom>
          <a:solidFill>
            <a:srgbClr val="64D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67858" y="2761488"/>
            <a:ext cx="22960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64D2FF"/>
                </a:solidFill>
                <a:latin typeface="Inter"/>
              </a:rPr>
              <a:t>歌詞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4666" y="3337560"/>
            <a:ext cx="2570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Inter"/>
              </a:rPr>
              <a:t>Musixmatch API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66836" y="2468880"/>
            <a:ext cx="3210458" cy="1554480"/>
          </a:xfrm>
          <a:prstGeom prst="roundRect">
            <a:avLst>
              <a:gd name="adj" fmla="val 12000"/>
            </a:avLst>
          </a:prstGeom>
          <a:solidFill>
            <a:srgbClr val="1C1C1E">
              <a:alpha val="40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432596" y="2834640"/>
            <a:ext cx="256032" cy="256032"/>
          </a:xfrm>
          <a:prstGeom prst="ellipse">
            <a:avLst/>
          </a:prstGeom>
          <a:solidFill>
            <a:srgbClr val="30D1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844076" y="2761488"/>
            <a:ext cx="22960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0D158"/>
                </a:solidFill>
                <a:latin typeface="Inter"/>
              </a:rPr>
              <a:t>Groove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0884" y="3337560"/>
            <a:ext cx="2570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Inter"/>
              </a:rPr>
              <a:t>音量 + 本体モーション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4389120"/>
            <a:ext cx="3210458" cy="1554480"/>
          </a:xfrm>
          <a:prstGeom prst="roundRect">
            <a:avLst>
              <a:gd name="adj" fmla="val 12000"/>
            </a:avLst>
          </a:prstGeom>
          <a:solidFill>
            <a:srgbClr val="1C1C1E">
              <a:alpha val="40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280160" y="4754880"/>
            <a:ext cx="256032" cy="256032"/>
          </a:xfrm>
          <a:prstGeom prst="ellipse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691640" y="4681728"/>
            <a:ext cx="22960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9F0A"/>
                </a:solidFill>
                <a:latin typeface="Inter"/>
              </a:rPr>
              <a:t>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8448" y="5257800"/>
            <a:ext cx="2570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Inter"/>
              </a:rPr>
              <a:t>Claude (backend経由)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90618" y="4389120"/>
            <a:ext cx="3210458" cy="1554480"/>
          </a:xfrm>
          <a:prstGeom prst="roundRect">
            <a:avLst>
              <a:gd name="adj" fmla="val 12000"/>
            </a:avLst>
          </a:prstGeom>
          <a:solidFill>
            <a:srgbClr val="1C1C1E">
              <a:alpha val="40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856378" y="4754880"/>
            <a:ext cx="256032" cy="256032"/>
          </a:xfrm>
          <a:prstGeom prst="ellipse">
            <a:avLst/>
          </a:prstGeom>
          <a:solidFill>
            <a:srgbClr val="BF5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267858" y="4681728"/>
            <a:ext cx="22960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F5AF2"/>
                </a:solidFill>
                <a:latin typeface="Inter"/>
              </a:rPr>
              <a:t>ML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4666" y="5257800"/>
            <a:ext cx="2570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Inter"/>
              </a:rPr>
              <a:t>Create ML → Core ML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6836" y="4389120"/>
            <a:ext cx="3210458" cy="1554480"/>
          </a:xfrm>
          <a:prstGeom prst="roundRect">
            <a:avLst>
              <a:gd name="adj" fmla="val 12000"/>
            </a:avLst>
          </a:prstGeom>
          <a:solidFill>
            <a:srgbClr val="1C1C1E">
              <a:alpha val="40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8432596" y="4754880"/>
            <a:ext cx="256032" cy="256032"/>
          </a:xfrm>
          <a:prstGeom prst="ellipse">
            <a:avLst/>
          </a:prstGeom>
          <a:solidFill>
            <a:srgbClr val="FF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844076" y="4681728"/>
            <a:ext cx="22960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375F"/>
                </a:solidFill>
                <a:latin typeface="Inter"/>
              </a:rPr>
              <a:t>Backend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0884" y="5257800"/>
            <a:ext cx="2570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Inter"/>
              </a:rPr>
              <a:t>Firestore + Node.js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AI-DRIVEN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 dirty="0">
                <a:solidFill>
                  <a:srgbClr val="FFFFFF"/>
                </a:solidFill>
                <a:latin typeface="Inter"/>
              </a:rPr>
              <a:t>AI </a:t>
            </a:r>
            <a:r>
              <a:rPr sz="4600" b="1" i="0" dirty="0" err="1">
                <a:solidFill>
                  <a:srgbClr val="FFFFFF"/>
                </a:solidFill>
                <a:latin typeface="Inter"/>
              </a:rPr>
              <a:t>を、チームメイトに</a:t>
            </a:r>
            <a:r>
              <a:rPr sz="4600" b="1" i="0" dirty="0">
                <a:solidFill>
                  <a:srgbClr val="FFFFFF"/>
                </a:solidFill>
                <a:latin typeface="Inter"/>
              </a:rPr>
              <a:t>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874519"/>
            <a:ext cx="237744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B8BE"/>
                </a:solidFill>
                <a:latin typeface="Inter"/>
              </a:rPr>
              <a:t>設計・実装・レビューの全工程に AI を組み込んだ。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697480"/>
            <a:ext cx="3210458" cy="137160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061A36"/>
              </a:gs>
              <a:gs pos="100000">
                <a:srgbClr val="061224"/>
              </a:gs>
            </a:gsLst>
            <a:lin ang="14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321045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 dirty="0">
                <a:solidFill>
                  <a:srgbClr val="64D2FF"/>
                </a:solidFill>
                <a:latin typeface="Inter"/>
              </a:rPr>
              <a:t>151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57600"/>
            <a:ext cx="32104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8B8BE"/>
                </a:solidFill>
                <a:latin typeface="Inter"/>
              </a:rPr>
              <a:t>Commits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90618" y="2697480"/>
            <a:ext cx="3210458" cy="137160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061A36"/>
              </a:gs>
              <a:gs pos="100000">
                <a:srgbClr val="061224"/>
              </a:gs>
            </a:gsLst>
            <a:lin ang="14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90618" y="2834640"/>
            <a:ext cx="321045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64D2FF"/>
                </a:solidFill>
                <a:latin typeface="Inter"/>
              </a:rPr>
              <a:t>41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657600"/>
            <a:ext cx="32104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8B8BE"/>
                </a:solidFill>
                <a:latin typeface="Inter"/>
              </a:rPr>
              <a:t>Pull Requests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66836" y="2697480"/>
            <a:ext cx="3210458" cy="137160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061A36"/>
              </a:gs>
              <a:gs pos="100000">
                <a:srgbClr val="061224"/>
              </a:gs>
            </a:gsLst>
            <a:lin ang="14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66836" y="2834640"/>
            <a:ext cx="321045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800" b="1" dirty="0">
                <a:solidFill>
                  <a:srgbClr val="64D2FF"/>
                </a:solidFill>
                <a:latin typeface="Inter"/>
              </a:rPr>
              <a:t>3</a:t>
            </a:r>
            <a:endParaRPr sz="4800" b="1" i="0" dirty="0">
              <a:solidFill>
                <a:srgbClr val="64D2FF"/>
              </a:solidFill>
              <a:latin typeface="Inter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066836" y="3657600"/>
            <a:ext cx="32104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8B8BE"/>
                </a:solidFill>
                <a:latin typeface="Inter"/>
              </a:rPr>
              <a:t>Days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343400"/>
            <a:ext cx="4952847" cy="150876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anthrop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4617720"/>
            <a:ext cx="960120" cy="9601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4617720"/>
            <a:ext cx="312404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Inter"/>
              </a:rPr>
              <a:t>Claude Code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79" y="5097780"/>
            <a:ext cx="3626967" cy="330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 dirty="0" err="1">
                <a:solidFill>
                  <a:srgbClr val="B8B8BE"/>
                </a:solidFill>
                <a:latin typeface="Inter"/>
              </a:rPr>
              <a:t>設計ドキュメント・実装</a:t>
            </a:r>
            <a:endParaRPr lang="en-US" sz="1400" b="0" i="0" dirty="0">
              <a:solidFill>
                <a:srgbClr val="B8B8BE"/>
              </a:solidFill>
              <a:latin typeface="Inter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6324447" y="4343400"/>
            <a:ext cx="4952847" cy="150876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coderabb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0207" y="4617720"/>
            <a:ext cx="960120" cy="9601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878927" y="4617720"/>
            <a:ext cx="312404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Inter"/>
              </a:rPr>
              <a:t>CodeRabbit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8041" y="5074920"/>
            <a:ext cx="3124047" cy="330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lang="ja-JP" altLang="en-US" sz="1400" b="0" i="0">
                <a:solidFill>
                  <a:srgbClr val="B8B8BE"/>
                </a:solidFill>
                <a:latin typeface="Inter"/>
              </a:rPr>
              <a:t>全</a:t>
            </a:r>
            <a:r>
              <a:rPr lang="en-JP" sz="1400" b="0" i="0" dirty="0">
                <a:solidFill>
                  <a:srgbClr val="B8B8BE"/>
                </a:solidFill>
                <a:latin typeface="Inter"/>
              </a:rPr>
              <a:t> </a:t>
            </a:r>
            <a:r>
              <a:rPr sz="1400" b="0" i="0" dirty="0">
                <a:solidFill>
                  <a:srgbClr val="B8B8BE"/>
                </a:solidFill>
                <a:latin typeface="Inter"/>
              </a:rPr>
              <a:t>PR </a:t>
            </a:r>
            <a:r>
              <a:rPr sz="1400" b="0" i="0" dirty="0" err="1">
                <a:solidFill>
                  <a:srgbClr val="B8B8BE"/>
                </a:solidFill>
                <a:latin typeface="Inter"/>
              </a:rPr>
              <a:t>を日本語で自動レビュ</a:t>
            </a:r>
            <a:r>
              <a:rPr lang="en-US" sz="1400" dirty="0">
                <a:solidFill>
                  <a:srgbClr val="B8B8BE"/>
                </a:solidFill>
                <a:latin typeface="Inter"/>
              </a:rPr>
              <a:t>ー</a:t>
            </a:r>
            <a:endParaRPr sz="1400" b="0" i="0" dirty="0">
              <a:solidFill>
                <a:srgbClr val="B8B8BE"/>
              </a:solidFill>
              <a:latin typeface="Inter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914400" y="608076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E8E93"/>
                </a:solidFill>
                <a:latin typeface="Inter"/>
              </a:rPr>
              <a:t>CodeRabbit 実績: コードデリバリ 86% 高速化 / レビュー指摘 60% 削減  ―  claude.com/ja/customers/coderabbit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8003B1-095B-C92F-096F-A687EDF2E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C13743D-604F-EB48-AAE5-40EF8B4DBF5F}"/>
              </a:ext>
            </a:extLst>
          </p:cNvPr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AI-DRIVEN DEVELOPMENT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8B1A33-5F23-DD48-245F-7128F1A805D1}"/>
              </a:ext>
            </a:extLst>
          </p:cNvPr>
          <p:cNvSpPr txBox="1"/>
          <p:nvPr/>
        </p:nvSpPr>
        <p:spPr>
          <a:xfrm>
            <a:off x="914400" y="91440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 dirty="0">
                <a:solidFill>
                  <a:srgbClr val="FFFFFF"/>
                </a:solidFill>
                <a:latin typeface="Inter"/>
              </a:rPr>
              <a:t>AI </a:t>
            </a:r>
            <a:r>
              <a:rPr sz="4600" b="1" i="0" dirty="0" err="1">
                <a:solidFill>
                  <a:srgbClr val="FFFFFF"/>
                </a:solidFill>
                <a:latin typeface="Inter"/>
              </a:rPr>
              <a:t>を、チームメイトに</a:t>
            </a:r>
            <a:r>
              <a:rPr sz="4600" b="1" i="0" dirty="0">
                <a:solidFill>
                  <a:srgbClr val="FFFFFF"/>
                </a:solidFill>
                <a:latin typeface="Inter"/>
              </a:rPr>
              <a:t>。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289272A-E96B-714A-8B48-8BA354F5A14D}"/>
              </a:ext>
            </a:extLst>
          </p:cNvPr>
          <p:cNvSpPr/>
          <p:nvPr/>
        </p:nvSpPr>
        <p:spPr>
          <a:xfrm>
            <a:off x="960120" y="1874519"/>
            <a:ext cx="237744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B522AA-5B33-EF39-55C2-AAD62A7185A7}"/>
              </a:ext>
            </a:extLst>
          </p:cNvPr>
          <p:cNvSpPr txBox="1"/>
          <p:nvPr/>
        </p:nvSpPr>
        <p:spPr>
          <a:xfrm>
            <a:off x="914400" y="214884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B8BE"/>
                </a:solidFill>
                <a:latin typeface="Inter"/>
              </a:rPr>
              <a:t>設計・実装・レビューの全工程に AI を組み込んだ。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7462D5-A321-51B3-9F6E-D06282420A47}"/>
              </a:ext>
            </a:extLst>
          </p:cNvPr>
          <p:cNvSpPr txBox="1"/>
          <p:nvPr/>
        </p:nvSpPr>
        <p:spPr>
          <a:xfrm>
            <a:off x="914400" y="3657600"/>
            <a:ext cx="32104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8B8BE"/>
                </a:solidFill>
                <a:latin typeface="Inter"/>
              </a:rPr>
              <a:t>Commits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A1C286-2F2C-E518-A67E-8C4B464D662A}"/>
              </a:ext>
            </a:extLst>
          </p:cNvPr>
          <p:cNvSpPr txBox="1"/>
          <p:nvPr/>
        </p:nvSpPr>
        <p:spPr>
          <a:xfrm>
            <a:off x="4490618" y="3657600"/>
            <a:ext cx="32104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8B8BE"/>
                </a:solidFill>
                <a:latin typeface="Inter"/>
              </a:rPr>
              <a:t>Pull Requests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2FF8EE-01C0-CB5E-A5DC-8E51BC8A330D}"/>
              </a:ext>
            </a:extLst>
          </p:cNvPr>
          <p:cNvSpPr txBox="1"/>
          <p:nvPr/>
        </p:nvSpPr>
        <p:spPr>
          <a:xfrm>
            <a:off x="8066836" y="3657600"/>
            <a:ext cx="32104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8B8BE"/>
                </a:solidFill>
                <a:latin typeface="Inter"/>
              </a:rPr>
              <a:t>Days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796CD15-BC8B-5DED-E722-0B418B53A16B}"/>
              </a:ext>
            </a:extLst>
          </p:cNvPr>
          <p:cNvSpPr/>
          <p:nvPr/>
        </p:nvSpPr>
        <p:spPr>
          <a:xfrm>
            <a:off x="914400" y="4343400"/>
            <a:ext cx="4952847" cy="150876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anthropic.png">
            <a:extLst>
              <a:ext uri="{FF2B5EF4-FFF2-40B4-BE49-F238E27FC236}">
                <a16:creationId xmlns:a16="http://schemas.microsoft.com/office/drawing/2014/main" id="{0F82029C-B02D-7B23-0464-F9227D406B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4617720"/>
            <a:ext cx="960120" cy="96012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99FB2EF-013F-3FF0-8DDF-551C2A14AAE5}"/>
              </a:ext>
            </a:extLst>
          </p:cNvPr>
          <p:cNvSpPr txBox="1"/>
          <p:nvPr/>
        </p:nvSpPr>
        <p:spPr>
          <a:xfrm>
            <a:off x="2468880" y="4617720"/>
            <a:ext cx="312404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Inter"/>
              </a:rPr>
              <a:t>Claude Code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4E6C1C-3AEC-7FF5-E6D1-A7C89357E8B5}"/>
              </a:ext>
            </a:extLst>
          </p:cNvPr>
          <p:cNvSpPr txBox="1"/>
          <p:nvPr/>
        </p:nvSpPr>
        <p:spPr>
          <a:xfrm>
            <a:off x="2468880" y="5074920"/>
            <a:ext cx="312404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B8B8BE"/>
                </a:solidFill>
                <a:latin typeface="Inter"/>
              </a:rPr>
              <a:t>設計ドキュメント・実装・スライドを生成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FDE77BD-2EB9-815E-0A3E-F76DD01FC34D}"/>
              </a:ext>
            </a:extLst>
          </p:cNvPr>
          <p:cNvSpPr/>
          <p:nvPr/>
        </p:nvSpPr>
        <p:spPr>
          <a:xfrm>
            <a:off x="6324447" y="4343400"/>
            <a:ext cx="4952847" cy="150876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coderabbit.png">
            <a:extLst>
              <a:ext uri="{FF2B5EF4-FFF2-40B4-BE49-F238E27FC236}">
                <a16:creationId xmlns:a16="http://schemas.microsoft.com/office/drawing/2014/main" id="{8944174B-D3DB-837D-20A8-9B2625DB83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0207" y="4617720"/>
            <a:ext cx="960120" cy="96012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CAFDA11-3BD4-5FEC-5F85-D2F033EFBE05}"/>
              </a:ext>
            </a:extLst>
          </p:cNvPr>
          <p:cNvSpPr txBox="1"/>
          <p:nvPr/>
        </p:nvSpPr>
        <p:spPr>
          <a:xfrm>
            <a:off x="7878927" y="4617720"/>
            <a:ext cx="312404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Inter"/>
              </a:rPr>
              <a:t>CodeRabbit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5D38F45-C384-E0CE-5D36-FA2BE84F5A3C}"/>
              </a:ext>
            </a:extLst>
          </p:cNvPr>
          <p:cNvSpPr txBox="1"/>
          <p:nvPr/>
        </p:nvSpPr>
        <p:spPr>
          <a:xfrm>
            <a:off x="7878927" y="5074920"/>
            <a:ext cx="312404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B8B8BE"/>
                </a:solidFill>
                <a:latin typeface="Inter"/>
              </a:rPr>
              <a:t>全 PR を日本語で自動レビュー（8 PR で指摘・改善）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7FA624-C621-C5DA-AEAC-D66F3A59AB9E}"/>
              </a:ext>
            </a:extLst>
          </p:cNvPr>
          <p:cNvSpPr txBox="1"/>
          <p:nvPr/>
        </p:nvSpPr>
        <p:spPr>
          <a:xfrm>
            <a:off x="914400" y="608076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E8E93"/>
                </a:solidFill>
                <a:latin typeface="Inter"/>
              </a:rPr>
              <a:t>CodeRabbit 実績: コードデリバリ 86% 高速化 / レビュー指摘 60% 削減  ―  claude.com/ja/customers/coderabbit</a:t>
            </a:r>
          </a:p>
        </p:txBody>
      </p:sp>
    </p:spTree>
    <p:extLst>
      <p:ext uri="{BB962C8B-B14F-4D97-AF65-F5344CB8AC3E}">
        <p14:creationId xmlns:p14="http://schemas.microsoft.com/office/powerpoint/2010/main" val="7190519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Inter"/>
              </a:rPr>
              <a:t>3つの収益エンジン。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965960"/>
            <a:ext cx="237744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400" y="2514600"/>
            <a:ext cx="3179978" cy="3657600"/>
          </a:xfrm>
          <a:prstGeom prst="roundRect">
            <a:avLst>
              <a:gd name="adj" fmla="val 14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14400" y="2514600"/>
            <a:ext cx="3179978" cy="82296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0A84FF"/>
              </a:gs>
              <a:gs pos="100000">
                <a:srgbClr val="005CD7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514600"/>
            <a:ext cx="3179978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Inter"/>
              </a:rPr>
              <a:t>B2B SaaS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611880"/>
            <a:ext cx="244845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FFFFFF"/>
                </a:solidFill>
                <a:latin typeface="Inter"/>
              </a:rPr>
              <a:t>アーティスト</a:t>
            </a:r>
          </a:p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FFFFFF"/>
                </a:solidFill>
                <a:latin typeface="Inter"/>
              </a:rPr>
              <a:t>インサイト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617720"/>
            <a:ext cx="244845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B8B8BE"/>
                </a:solidFill>
                <a:latin typeface="Inter"/>
              </a:rPr>
              <a:t>身体反応ヒートマップを提供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0160" y="5440680"/>
            <a:ext cx="2448458" cy="3657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0A84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80160" y="5577840"/>
            <a:ext cx="2448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A84FF"/>
                </a:solidFill>
                <a:latin typeface="Inter"/>
              </a:rPr>
              <a:t>月額サブスク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05858" y="2514600"/>
            <a:ext cx="3179978" cy="3657600"/>
          </a:xfrm>
          <a:prstGeom prst="roundRect">
            <a:avLst>
              <a:gd name="adj" fmla="val 14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05858" y="2514600"/>
            <a:ext cx="3179978" cy="82296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30D158"/>
              </a:gs>
              <a:gs pos="100000">
                <a:srgbClr val="08A930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05858" y="2514600"/>
            <a:ext cx="3179978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Inter"/>
              </a:rPr>
              <a:t>Premium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71618" y="3611880"/>
            <a:ext cx="244845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FFFFFF"/>
                </a:solidFill>
                <a:latin typeface="Inter"/>
              </a:rPr>
              <a:t>セレンディピティ</a:t>
            </a:r>
          </a:p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FFFFFF"/>
                </a:solidFill>
                <a:latin typeface="Inter"/>
              </a:rPr>
              <a:t>マッチング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1618" y="4617720"/>
            <a:ext cx="244845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B8B8BE"/>
                </a:solidFill>
                <a:latin typeface="Inter"/>
              </a:rPr>
              <a:t>同じ瞬間に反応した人と出会う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71618" y="5440680"/>
            <a:ext cx="2448458" cy="3657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0D158"/>
              </a:gs>
              <a:gs pos="100000">
                <a:srgbClr val="30D158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71618" y="5577840"/>
            <a:ext cx="2448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30D158"/>
                </a:solidFill>
                <a:latin typeface="Inter"/>
              </a:rPr>
              <a:t>プレミアム課金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2514600"/>
            <a:ext cx="3179978" cy="3657600"/>
          </a:xfrm>
          <a:prstGeom prst="roundRect">
            <a:avLst>
              <a:gd name="adj" fmla="val 14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097316" y="2514600"/>
            <a:ext cx="3179978" cy="82296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FF9F0A"/>
              </a:gs>
              <a:gs pos="100000">
                <a:srgbClr val="D77700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97316" y="2514600"/>
            <a:ext cx="3179978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Inter"/>
              </a:rPr>
              <a:t>P2P Tips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63076" y="3611880"/>
            <a:ext cx="244845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FFFFFF"/>
                </a:solidFill>
                <a:latin typeface="Inter"/>
              </a:rPr>
              <a:t>チップ循環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63076" y="4617720"/>
            <a:ext cx="244845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B8B8BE"/>
                </a:solidFill>
                <a:latin typeface="Inter"/>
              </a:rPr>
              <a:t>発見者を可視化し直接還元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63076" y="5440680"/>
            <a:ext cx="2448458" cy="3657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9F0A"/>
              </a:gs>
              <a:gs pos="100000">
                <a:srgbClr val="FF9F0A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63076" y="5577840"/>
            <a:ext cx="2448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9F0A"/>
                </a:solidFill>
                <a:latin typeface="Inter"/>
              </a:rPr>
              <a:t>マージン 10%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TEAM &amp;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Inter"/>
              </a:rPr>
              <a:t>実装済み、実機で動く。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965960"/>
            <a:ext cx="237744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8E8E93"/>
                </a:solidFill>
                <a:latin typeface="Inter"/>
              </a:rPr>
              <a:t>Team Othello — PM / iOS / Backend / ML・Design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926080"/>
            <a:ext cx="4952847" cy="310896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062412"/>
              </a:gs>
              <a:gs pos="100000">
                <a:srgbClr val="04120A"/>
              </a:gs>
            </a:gsLst>
            <a:lin ang="138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71600" y="3154680"/>
            <a:ext cx="403844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30D158"/>
                </a:solidFill>
                <a:latin typeface="Inter"/>
              </a:rPr>
              <a:t>✓  実装済み (P0)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749039"/>
            <a:ext cx="403844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FFFFFF"/>
                </a:solidFill>
                <a:latin typeface="Inter"/>
              </a:rPr>
              <a:t>曲再生 × MusicKit</a:t>
            </a:r>
          </a:p>
          <a:p>
            <a:pPr>
              <a:lnSpc>
                <a:spcPct val="140000"/>
              </a:lnSpc>
            </a:pPr>
            <a:r>
              <a:rPr sz="1600" b="0">
                <a:solidFill>
                  <a:srgbClr val="FFFFFF"/>
                </a:solidFill>
                <a:latin typeface="Inter"/>
              </a:rPr>
              <a:t>時刻同期歌詞 (Musixmatch)</a:t>
            </a:r>
          </a:p>
          <a:p>
            <a:pPr>
              <a:lnSpc>
                <a:spcPct val="140000"/>
              </a:lnSpc>
            </a:pPr>
            <a:r>
              <a:rPr sz="1600" b="0">
                <a:solidFill>
                  <a:srgbClr val="FFFFFF"/>
                </a:solidFill>
                <a:latin typeface="Inter"/>
              </a:rPr>
              <a:t>歌詞タップ → AI対話 (Claude)</a:t>
            </a:r>
          </a:p>
          <a:p>
            <a:pPr>
              <a:lnSpc>
                <a:spcPct val="140000"/>
              </a:lnSpc>
            </a:pPr>
            <a:r>
              <a:rPr sz="1600" b="0">
                <a:solidFill>
                  <a:srgbClr val="FFFFFF"/>
                </a:solidFill>
                <a:latin typeface="Inter"/>
              </a:rPr>
              <a:t>HowCard 生成・保存</a:t>
            </a:r>
          </a:p>
          <a:p>
            <a:pPr>
              <a:lnSpc>
                <a:spcPct val="140000"/>
              </a:lnSpc>
            </a:pPr>
            <a:r>
              <a:rPr sz="1600" b="0">
                <a:solidFill>
                  <a:srgbClr val="FFFFFF"/>
                </a:solidFill>
                <a:latin typeface="Inter"/>
              </a:rPr>
              <a:t>Groove レベル表示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24447" y="2926080"/>
            <a:ext cx="4952847" cy="3108960"/>
          </a:xfrm>
          <a:prstGeom prst="roundRect">
            <a:avLst>
              <a:gd name="adj" fmla="val 12000"/>
            </a:avLst>
          </a:prstGeom>
          <a:solidFill>
            <a:srgbClr val="1C1C1E">
              <a:alpha val="3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81647" y="3154680"/>
            <a:ext cx="403844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8E8E93"/>
                </a:solidFill>
                <a:latin typeface="Inter"/>
              </a:rPr>
              <a:t>○  意図的にスコープ外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1647" y="3749039"/>
            <a:ext cx="403844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8E8E93"/>
                </a:solidFill>
                <a:latin typeface="Inter"/>
              </a:rPr>
              <a:t>DM・フォロー・タイムライン</a:t>
            </a:r>
          </a:p>
          <a:p>
            <a:pPr>
              <a:lnSpc>
                <a:spcPct val="140000"/>
              </a:lnSpc>
            </a:pPr>
            <a:r>
              <a:rPr sz="1600" b="0">
                <a:solidFill>
                  <a:srgbClr val="8E8E93"/>
                </a:solidFill>
                <a:latin typeface="Inter"/>
              </a:rPr>
              <a:t>Spotify 連携</a:t>
            </a:r>
          </a:p>
          <a:p>
            <a:pPr>
              <a:lnSpc>
                <a:spcPct val="140000"/>
              </a:lnSpc>
            </a:pPr>
            <a:r>
              <a:rPr sz="1600" b="0">
                <a:solidFill>
                  <a:srgbClr val="8E8E93"/>
                </a:solidFill>
                <a:latin typeface="Inter"/>
              </a:rPr>
              <a:t>完全な認証フロー</a:t>
            </a:r>
          </a:p>
          <a:p>
            <a:pPr>
              <a:lnSpc>
                <a:spcPct val="140000"/>
              </a:lnSpc>
            </a:pPr>
            <a:r>
              <a:rPr sz="1600" b="0">
                <a:solidFill>
                  <a:srgbClr val="8E8E93"/>
                </a:solidFill>
                <a:latin typeface="Inter"/>
              </a:rPr>
              <a:t>AirPods 必須のセンサー精度</a:t>
            </a:r>
          </a:p>
          <a:p>
            <a:pPr>
              <a:lnSpc>
                <a:spcPct val="140000"/>
              </a:lnSpc>
            </a:pPr>
            <a:r>
              <a:rPr sz="1600" b="0">
                <a:solidFill>
                  <a:srgbClr val="8E8E93"/>
                </a:solidFill>
                <a:latin typeface="Inter"/>
              </a:rPr>
              <a:t>教師データ収集アプリ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7800" b="1" i="0">
                <a:solidFill>
                  <a:srgbClr val="FFFFFF"/>
                </a:solidFill>
                <a:latin typeface="Inter"/>
              </a:rPr>
              <a:t>音楽は、</a:t>
            </a:r>
          </a:p>
          <a:p>
            <a:pPr algn="l">
              <a:lnSpc>
                <a:spcPct val="105000"/>
              </a:lnSpc>
            </a:pPr>
            <a:r>
              <a:rPr sz="7800" b="1" i="0">
                <a:solidFill>
                  <a:srgbClr val="FFFFFF"/>
                </a:solidFill>
                <a:latin typeface="Inter"/>
              </a:rPr>
              <a:t>どう聴くかだ。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4434840"/>
            <a:ext cx="3291840" cy="6400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470916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B8B8BE"/>
                </a:solidFill>
                <a:latin typeface="Inter"/>
              </a:rPr>
              <a:t>歌詞が、あなたの How を語り始める。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Inter"/>
              </a:rPr>
              <a:t>HowTune   ·   Team Othello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Inter"/>
              </a:rPr>
              <a:t>参考資料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874519"/>
            <a:ext cx="237744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400" y="2514600"/>
            <a:ext cx="10362895" cy="1143000"/>
          </a:xfrm>
          <a:prstGeom prst="roundRect">
            <a:avLst>
              <a:gd name="adj" fmla="val 12000"/>
            </a:avLst>
          </a:prstGeom>
          <a:solidFill>
            <a:srgbClr val="1C1C1E">
              <a:alpha val="42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coderabb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2761488"/>
            <a:ext cx="640080" cy="640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240280" y="2743200"/>
            <a:ext cx="8534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Inter"/>
              </a:rPr>
              <a:t>CodeRabbit × Claude 顧客事例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3172968"/>
            <a:ext cx="8534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4D2FF"/>
                </a:solidFill>
                <a:latin typeface="Inter"/>
              </a:rPr>
              <a:t>claude.com/ja/customers/coderabbit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858768"/>
            <a:ext cx="10362895" cy="1143000"/>
          </a:xfrm>
          <a:prstGeom prst="roundRect">
            <a:avLst>
              <a:gd name="adj" fmla="val 12000"/>
            </a:avLst>
          </a:prstGeom>
          <a:solidFill>
            <a:srgbClr val="1C1C1E">
              <a:alpha val="42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anthrop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4105656"/>
            <a:ext cx="640080" cy="640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240280" y="4087368"/>
            <a:ext cx="8534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Inter"/>
              </a:rPr>
              <a:t>Claude Code — AI ペアプログラミング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4517136"/>
            <a:ext cx="8534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4D2FF"/>
                </a:solidFill>
                <a:latin typeface="Inter"/>
              </a:rPr>
              <a:t>claude.com/claude-code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202936"/>
            <a:ext cx="10362895" cy="1143000"/>
          </a:xfrm>
          <a:prstGeom prst="roundRect">
            <a:avLst>
              <a:gd name="adj" fmla="val 12000"/>
            </a:avLst>
          </a:prstGeom>
          <a:solidFill>
            <a:srgbClr val="1C1C1E">
              <a:alpha val="42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coderabb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5449824"/>
            <a:ext cx="640080" cy="640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240280" y="5431536"/>
            <a:ext cx="8534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Inter"/>
              </a:rPr>
              <a:t>CodeRabbit — AI コードレビュー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0280" y="5861304"/>
            <a:ext cx="8534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4D2FF"/>
                </a:solidFill>
                <a:latin typeface="Inter"/>
              </a:rPr>
              <a:t>coderabbit.ai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Q&amp;A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868680"/>
            <a:ext cx="10362895" cy="1188720"/>
          </a:xfrm>
          <a:prstGeom prst="roundRect">
            <a:avLst>
              <a:gd name="adj" fmla="val 10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80160" y="868680"/>
            <a:ext cx="963137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Inter"/>
              </a:rPr>
              <a:t>Q1: AirPods がないと精度が落ちる？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286000"/>
            <a:ext cx="274320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A. AirPods はサプリメントに降格済み (ADR-0005)。</a:t>
            </a:r>
          </a:p>
          <a:p>
            <a:pPr>
              <a:lnSpc>
                <a:spcPct val="145000"/>
              </a:lnSpc>
            </a:pPr>
            <a:endParaRPr sz="1800" b="1">
              <a:solidFill>
                <a:srgbClr val="FFFFFF"/>
              </a:solidFill>
              <a:latin typeface="Inter"/>
            </a:endParaRP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64D2FF"/>
                </a:solidFill>
                <a:latin typeface="Inter"/>
              </a:rPr>
              <a:t>デモは iPhone 単体で完全動作。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音量 × 本体モーションで Groove を算出。AirPods 接続時は精度が上がるが必須ではない。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ロードマップ: 音量 → AirPods → 個人最適化。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Q&amp;A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868680"/>
            <a:ext cx="10362895" cy="1188720"/>
          </a:xfrm>
          <a:prstGeom prst="roundRect">
            <a:avLst>
              <a:gd name="adj" fmla="val 10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80160" y="868680"/>
            <a:ext cx="963137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Inter"/>
              </a:rPr>
              <a:t>Q2: 音楽・歌詞のライセンスは？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286000"/>
            <a:ext cx="274320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A. Apple MusicKit で再生 = ライセンス取得済み。</a:t>
            </a:r>
          </a:p>
          <a:p>
            <a:pPr>
              <a:lnSpc>
                <a:spcPct val="145000"/>
              </a:lnSpc>
            </a:pPr>
            <a:endParaRPr sz="1800" b="1">
              <a:solidFill>
                <a:srgbClr val="FFFFFF"/>
              </a:solidFill>
              <a:latin typeface="Inter"/>
            </a:endParaRP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音源は保持・配信せず MusicKit に委任。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歌詞は Musixmatch API（商用時は有償プラン）。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Claude API はバックエンド経由でキーを秘匿。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Q&amp;A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868680"/>
            <a:ext cx="10362895" cy="1188720"/>
          </a:xfrm>
          <a:prstGeom prst="roundRect">
            <a:avLst>
              <a:gd name="adj" fmla="val 10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80160" y="868680"/>
            <a:ext cx="963137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Inter"/>
              </a:rPr>
              <a:t>Q3: ML の精度は現実的？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286000"/>
            <a:ext cx="274320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A. MVP はルールベース。精度より体験を優先。</a:t>
            </a:r>
          </a:p>
          <a:p>
            <a:pPr>
              <a:lnSpc>
                <a:spcPct val="145000"/>
              </a:lnSpc>
            </a:pPr>
            <a:endParaRPr sz="1800" b="1">
              <a:solidFill>
                <a:srgbClr val="FFFFFF"/>
              </a:solidFill>
              <a:latin typeface="Inter"/>
            </a:endParaRP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64D2FF"/>
                </a:solidFill>
                <a:latin typeface="Inter"/>
              </a:rPr>
              <a:t>volume × 0.42 + motion × 0.58。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誇大な精度は主張しない。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AI対話の回答 → ラベル → Create ML で精度向上。使うほど賢くなる。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Q&amp;A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868680"/>
            <a:ext cx="10362895" cy="1188720"/>
          </a:xfrm>
          <a:prstGeom prst="roundRect">
            <a:avLst>
              <a:gd name="adj" fmla="val 10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80160" y="868680"/>
            <a:ext cx="963137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Inter"/>
              </a:rPr>
              <a:t>Q4: スケールするか / 模倣されないか？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286000"/>
            <a:ext cx="274320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A. データモートとネットワーク効果。</a:t>
            </a:r>
          </a:p>
          <a:p>
            <a:pPr>
              <a:lnSpc>
                <a:spcPct val="145000"/>
              </a:lnSpc>
            </a:pPr>
            <a:endParaRPr sz="1800" b="1">
              <a:solidFill>
                <a:srgbClr val="FFFFFF"/>
              </a:solidFill>
              <a:latin typeface="Inter"/>
            </a:endParaRP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「歌詞 × 身体反応 × AI対話」のラベル付きデータは、後発が追うのに同量のユーザー時間が必要。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64D2FF"/>
                </a:solidFill>
                <a:latin typeface="Inter"/>
              </a:rPr>
              <a:t>同じ歌詞に反応した人が増えるほど、マッチング価値が上がる。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Q&amp;A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868680"/>
            <a:ext cx="10362895" cy="1188720"/>
          </a:xfrm>
          <a:prstGeom prst="roundRect">
            <a:avLst>
              <a:gd name="adj" fmla="val 10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80160" y="868680"/>
            <a:ext cx="963137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Inter"/>
              </a:rPr>
              <a:t>Q5: 心拍・身体データのプライバシーは？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286000"/>
            <a:ext cx="274320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A. プライバシーを設計の中心に。</a:t>
            </a:r>
          </a:p>
          <a:p>
            <a:pPr>
              <a:lnSpc>
                <a:spcPct val="145000"/>
              </a:lnSpc>
            </a:pPr>
            <a:endParaRPr sz="1800" b="1">
              <a:solidFill>
                <a:srgbClr val="FFFFFF"/>
              </a:solidFill>
              <a:latin typeface="Inter"/>
            </a:endParaRP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心拍は HealthKit 端末内に留め、Firestore には書き込まない。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LLM キーはバックエンド経由 (ADR-0002)。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最小権限・明示同意・削除手段を非機能要件に定義。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Q&amp;A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868680"/>
            <a:ext cx="10362895" cy="1188720"/>
          </a:xfrm>
          <a:prstGeom prst="roundRect">
            <a:avLst>
              <a:gd name="adj" fmla="val 10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80160" y="868680"/>
            <a:ext cx="963137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Inter"/>
              </a:rPr>
              <a:t>Q6: なぜ今、なぜこのチーム？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286000"/>
            <a:ext cx="274320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A. タイミング・技術・チームが揃った。</a:t>
            </a:r>
          </a:p>
          <a:p>
            <a:pPr>
              <a:lnSpc>
                <a:spcPct val="145000"/>
              </a:lnSpc>
            </a:pPr>
            <a:endParaRPr sz="1800" b="1">
              <a:solidFill>
                <a:srgbClr val="FFFFFF"/>
              </a:solidFill>
              <a:latin typeface="Inter"/>
            </a:endParaRP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64D2FF"/>
                </a:solidFill>
                <a:latin typeface="Inter"/>
              </a:rPr>
              <a:t>AIがスキルをコモディティ化した直後 — 「How」のSNSはまだ無い。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Apple Ecosystem × Claude が今が最良の組み合わせ。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PM / iOS / Backend / ML の4専門職で、3日で動くものを作った。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821</Words>
  <Application>Microsoft Macintosh PowerPoint</Application>
  <PresentationFormat>Widescreen</PresentationFormat>
  <Paragraphs>220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Inter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Haruki Tanaka</cp:lastModifiedBy>
  <cp:revision>4</cp:revision>
  <dcterms:created xsi:type="dcterms:W3CDTF">2013-01-27T09:14:16Z</dcterms:created>
  <dcterms:modified xsi:type="dcterms:W3CDTF">2026-05-25T07:28:51Z</dcterms:modified>
  <cp:category/>
</cp:coreProperties>
</file>