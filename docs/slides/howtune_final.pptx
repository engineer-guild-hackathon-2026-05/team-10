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4884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1" i="0">
                <a:solidFill>
                  <a:srgbClr val="FFFFFF"/>
                </a:solidFill>
                <a:latin typeface="Inter"/>
              </a:rPr>
              <a:t>HowTune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379476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69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何を聴くかではなく、どう聴いているか。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8932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Team Othello   ·   Engineer Guild Hackathon 2026/05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つながるのは、曲の「この一点」。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26517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Inter"/>
              </a:rPr>
              <a:t>♪  Blinding Lights — The Weeknd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3611880"/>
            <a:ext cx="9357055" cy="128016"/>
          </a:xfrm>
          <a:prstGeom prst="roundRect">
            <a:avLst>
              <a:gd name="adj" fmla="val 50000"/>
            </a:avLst>
          </a:prstGeom>
          <a:solidFill>
            <a:srgbClr val="33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17320" y="3611880"/>
            <a:ext cx="5801374" cy="12801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090678" y="3547872"/>
            <a:ext cx="256032" cy="256032"/>
          </a:xfrm>
          <a:prstGeom prst="ellipse">
            <a:avLst/>
          </a:prstGeom>
          <a:solidFill>
            <a:srgbClr val="64D2F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5774" y="30632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4206240"/>
            <a:ext cx="9357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1">
                <a:solidFill>
                  <a:srgbClr val="FFFFFF"/>
                </a:solidFill>
                <a:latin typeface="Inter"/>
              </a:rPr>
              <a:t>“I said, ooh, I'm blinded by the lights”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4663440"/>
            <a:ext cx="9357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64D2FF"/>
                </a:solidFill>
                <a:latin typeface="Inter"/>
              </a:rPr>
              <a:t>●  ●  ●  ●    同じ瞬間に反応した人と出会う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4924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曲全体でも、ジャンルでもない。特定の瞬間の歌詞 × 反応で、人とつながる。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AIが、価値をひっくり返す。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4952847" cy="329184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E8E93"/>
                </a:solidFill>
                <a:latin typeface="Inter"/>
              </a:rPr>
              <a:t>これまで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B8B8BE"/>
                </a:solidFill>
                <a:latin typeface="Inter"/>
              </a:rPr>
              <a:t>何を作るか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スキルの希少性が価値だった。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8E8E93"/>
                </a:solidFill>
                <a:latin typeface="Inter"/>
              </a:rPr>
              <a:t>AIがそれをコモディティ化する。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06040"/>
            <a:ext cx="4952847" cy="329184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64D2FF"/>
                </a:solidFill>
                <a:latin typeface="Inter"/>
              </a:rPr>
              <a:t>これから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566160"/>
            <a:ext cx="4038447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Inter"/>
              </a:rPr>
              <a:t>どう楽しむか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4572000"/>
            <a:ext cx="4038447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体験とコミュニティが最も希少な資源になる。</a:t>
            </a:r>
          </a:p>
          <a:p>
            <a:pPr algn="l">
              <a:lnSpc>
                <a:spcPct val="130000"/>
              </a:lnSpc>
            </a:pPr>
            <a:r>
              <a:rPr sz="1600" b="0" i="0">
                <a:solidFill>
                  <a:srgbClr val="B8B8BE"/>
                </a:solidFill>
                <a:latin typeface="Inter"/>
              </a:rPr>
              <a:t>HowTune はその中心にいる。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Inter"/>
              </a:rPr>
              <a:t>Labeling is not enough.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既存サービスは「曲名」でしか繋げない。本当の熱狂は、聴き方の中にある。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歌詞の一節で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息が止まる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618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ベースで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体が動く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3200400"/>
            <a:ext cx="3210458" cy="274320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356616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FFFFF"/>
                </a:solidFill>
                <a:latin typeface="Inter"/>
              </a:rPr>
              <a:t>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4572000"/>
            <a:ext cx="321045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サビ前の溜めで</a:t>
            </a:r>
          </a:p>
          <a:p>
            <a:pPr algn="ctr">
              <a:lnSpc>
                <a:spcPct val="120000"/>
              </a:lnSpc>
            </a:pPr>
            <a:r>
              <a:rPr sz="1900" b="1" i="0">
                <a:solidFill>
                  <a:srgbClr val="FFFFFF"/>
                </a:solidFill>
                <a:latin typeface="Inter"/>
              </a:rPr>
              <a:t>鳥肌が立つ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628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400" b="1" i="0">
                <a:solidFill>
                  <a:srgbClr val="FFFFFF"/>
                </a:solidFill>
                <a:latin typeface="Inter"/>
              </a:rPr>
              <a:t>歌詞を、鏡に。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520440"/>
            <a:ext cx="292608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840480"/>
            <a:ext cx="1036289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センサーは事実を捉える。</a:t>
            </a:r>
          </a:p>
          <a:p>
            <a:pPr>
              <a:lnSpc>
                <a:spcPct val="135000"/>
              </a:lnSpc>
            </a:pPr>
            <a:r>
              <a:rPr sz="2200" b="0">
                <a:solidFill>
                  <a:srgbClr val="B8B8BE"/>
                </a:solidFill>
                <a:latin typeface="Inter"/>
              </a:rPr>
              <a:t>AIは断面を差し出す。</a:t>
            </a:r>
          </a:p>
          <a:p>
            <a:pPr>
              <a:lnSpc>
                <a:spcPct val="135000"/>
              </a:lnSpc>
            </a:pPr>
            <a:r>
              <a:rPr sz="2200" b="1">
                <a:solidFill>
                  <a:srgbClr val="FFFFFF"/>
                </a:solidFill>
                <a:latin typeface="Inter"/>
              </a:rPr>
              <a:t>意味は、あなたが見つける。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Inter"/>
              </a:rPr>
              <a:t>聴くだけで、体験が言葉になる。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🎧</a:t>
            </a:r>
          </a:p>
        </p:txBody>
      </p:sp>
      <p:sp>
        <p:nvSpPr>
          <p:cNvPr id="8" name="Rectangle 7"/>
          <p:cNvSpPr/>
          <p:nvPr/>
        </p:nvSpPr>
        <p:spPr>
          <a:xfrm>
            <a:off x="1520921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聴く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41843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1843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48364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1843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1843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9286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9286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75807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9286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Groove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9286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96729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96729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03250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96729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96729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24172" y="2606040"/>
            <a:ext cx="1853123" cy="301752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24172" y="3063240"/>
            <a:ext cx="1853123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0" i="0">
                <a:solidFill>
                  <a:srgbClr val="FFFFFF"/>
                </a:solidFill>
                <a:latin typeface="Inter"/>
              </a:rPr>
              <a:t>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30693" y="4114800"/>
            <a:ext cx="640080" cy="4572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24172" y="4343400"/>
            <a:ext cx="18531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How Card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4172" y="4983480"/>
            <a:ext cx="185312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 i="0">
                <a:solidFill>
                  <a:srgbClr val="FFFFFF"/>
                </a:solidFill>
                <a:latin typeface="Inter"/>
              </a:rPr>
              <a:t>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3931920"/>
            <a:ext cx="3657600" cy="73152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2519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B8B8BE"/>
                </a:solidFill>
                <a:latin typeface="Inter"/>
              </a:rPr>
              <a:t>実機で、歌詞タップ → AI対話 → HowCard を体験します。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8E8E93"/>
                </a:solidFill>
                <a:latin typeface="Inter"/>
              </a:rPr>
              <a:t>▶ ここに実機スクリーンショット / 画面録画を配置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断定しない。問いかける。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201168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65176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453A"/>
                </a:solidFill>
                <a:latin typeface="Inter"/>
              </a:rPr>
              <a:t>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453A"/>
                </a:solidFill>
                <a:latin typeface="Inter"/>
              </a:rPr>
              <a:t>断定する 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「あなたは感動しました」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8E8E93"/>
                </a:solidFill>
                <a:latin typeface="Inter"/>
              </a:rPr>
              <a:t>「ベースが好きですね」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65176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224"/>
              </a:gs>
              <a:gs pos="100000">
                <a:srgbClr val="0E2A52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29260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64D2FF"/>
                </a:solidFill>
                <a:latin typeface="Inter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3167" y="2999232"/>
            <a:ext cx="33069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HowTune の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647" y="3840480"/>
            <a:ext cx="4038447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「ここで反応していましたね」</a:t>
            </a:r>
          </a:p>
          <a:p>
            <a:pPr>
              <a:lnSpc>
                <a:spcPct val="150000"/>
              </a:lnSpc>
            </a:pPr>
            <a:r>
              <a:rPr sz="1800" b="0">
                <a:solidFill>
                  <a:srgbClr val="FFFFFF"/>
                </a:solidFill>
                <a:latin typeface="Inter"/>
              </a:rPr>
              <a:t>「リズム？それとも歌詞？」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SCIENCE OF GROOVE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身体反応を、数値に。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377440"/>
            <a:ext cx="10362895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77440"/>
            <a:ext cx="103628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800" b="1" i="0">
                <a:solidFill>
                  <a:srgbClr val="64D2FF"/>
                </a:solidFill>
                <a:latin typeface="Inter"/>
              </a:rPr>
              <a:t>Groove  =  volume × 0.42  +  pulse × 0.58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8E8E93"/>
                </a:solidFill>
                <a:latin typeface="Inter"/>
              </a:rPr>
              <a:t>AirPods 不要。iPhone だけで動く。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0A84FF">
              <a:alpha val="18000"/>
            </a:srgbClr>
          </a:solidFill>
          <a:ln w="12700">
            <a:solidFill>
              <a:srgbClr val="0A84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A84FF"/>
                </a:solidFill>
                <a:latin typeface="Inter"/>
              </a:rPr>
              <a:t>groove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9649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64D2FF">
              <a:alpha val="18000"/>
            </a:srgbClr>
          </a:solidFill>
          <a:ln w="12700">
            <a:solidFill>
              <a:srgbClr val="64D2F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64D2FF"/>
                </a:solidFill>
                <a:latin typeface="Inter"/>
              </a:rPr>
              <a:t>hype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44898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30D158">
              <a:alpha val="18000"/>
            </a:srgbClr>
          </a:solidFill>
          <a:ln w="12700">
            <a:solidFill>
              <a:srgbClr val="30D158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0D158"/>
                </a:solidFill>
                <a:latin typeface="Inter"/>
              </a:rPr>
              <a:t>chill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147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BF5AF2">
              <a:alpha val="18000"/>
            </a:srgbClr>
          </a:solidFill>
          <a:ln w="12700">
            <a:solidFill>
              <a:srgbClr val="BF5AF2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BF5AF2"/>
                </a:solidFill>
                <a:latin typeface="Inter"/>
              </a:rPr>
              <a:t>immersion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75396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FF9F0A">
              <a:alpha val="18000"/>
            </a:srgbClr>
          </a:solidFill>
          <a:ln w="12700">
            <a:solidFill>
              <a:srgbClr val="FF9F0A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9F0A"/>
                </a:solidFill>
                <a:latin typeface="Inter"/>
              </a:rPr>
              <a:t>hit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40645" y="4206240"/>
            <a:ext cx="1536649" cy="640080"/>
          </a:xfrm>
          <a:prstGeom prst="roundRect">
            <a:avLst>
              <a:gd name="adj" fmla="val 50000"/>
            </a:avLst>
          </a:prstGeom>
          <a:solidFill>
            <a:srgbClr val="FF375F">
              <a:alpha val="18000"/>
            </a:srgbClr>
          </a:solidFill>
          <a:ln w="12700">
            <a:solidFill>
              <a:srgbClr val="FF375F">
                <a:alpha val="55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375F"/>
                </a:solidFill>
                <a:latin typeface="Inter"/>
              </a:rPr>
              <a:t>afterglow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1206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8B8BE"/>
                </a:solidFill>
                <a:latin typeface="Inter"/>
              </a:rPr>
              <a:t>6軸スコアで「聴き方」を多次元に表現する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使うほど、賢くなる。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4028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AI対話の回答が、そのまま学習データになる。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タップ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30363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87563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87563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87563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AI 対話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3526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260726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60726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60726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学習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6689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33889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33889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33889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精度向上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9852" y="3886200"/>
            <a:ext cx="411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A84F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7052" y="3200400"/>
            <a:ext cx="1670243" cy="18288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101016"/>
              </a:gs>
              <a:gs pos="100000">
                <a:srgbClr val="06162E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7052" y="3429000"/>
            <a:ext cx="1670243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0A84FF"/>
                </a:solidFill>
                <a:latin typeface="Inter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7052" y="3931920"/>
            <a:ext cx="1670243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"/>
              </a:rPr>
              <a:t>共鳴増加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54864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64D2FF"/>
                </a:solidFill>
                <a:latin typeface="Inter"/>
              </a:rPr>
              <a:t>このデータ資産が、競合の参入障壁になる。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Inter"/>
              </a:rPr>
              <a:t>Apple Ecosystem × Claude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80160" y="2834640"/>
            <a:ext cx="256032" cy="256032"/>
          </a:xfrm>
          <a:prstGeom prst="ellipse">
            <a:avLst/>
          </a:prstGeom>
          <a:solidFill>
            <a:srgbClr val="0A8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91640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A84FF"/>
                </a:solidFill>
                <a:latin typeface="Inter"/>
              </a:rPr>
              <a:t>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SwiftUI + MusicKit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56378" y="2834640"/>
            <a:ext cx="256032" cy="256032"/>
          </a:xfrm>
          <a:prstGeom prst="ellipse">
            <a:avLst/>
          </a:prstGeom>
          <a:solidFill>
            <a:srgbClr val="64D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67858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64D2FF"/>
                </a:solidFill>
                <a:latin typeface="Inter"/>
              </a:rPr>
              <a:t>歌詞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4666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Musixmatch API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6836" y="246888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32596" y="2834640"/>
            <a:ext cx="256032" cy="256032"/>
          </a:xfrm>
          <a:prstGeom prst="ellipse">
            <a:avLst/>
          </a:prstGeom>
          <a:solidFill>
            <a:srgbClr val="30D1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44076" y="276148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0D158"/>
                </a:solidFill>
                <a:latin typeface="Inter"/>
              </a:rPr>
              <a:t>Groove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0884" y="333756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音量 + 本体モーション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280160" y="4754880"/>
            <a:ext cx="256032" cy="256032"/>
          </a:xfrm>
          <a:prstGeom prst="ellipse">
            <a:avLst/>
          </a:prstGeom>
          <a:solidFill>
            <a:srgbClr val="FF9F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91640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9F0A"/>
                </a:solidFill>
                <a:latin typeface="Inter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98448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Claude (backend経由)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90618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56378" y="4754880"/>
            <a:ext cx="256032" cy="256032"/>
          </a:xfrm>
          <a:prstGeom prst="ellipse">
            <a:avLst/>
          </a:prstGeom>
          <a:solidFill>
            <a:srgbClr val="BF5A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67858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F5AF2"/>
                </a:solidFill>
                <a:latin typeface="Inter"/>
              </a:rPr>
              <a:t>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4666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Create ML → Core ML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6836" y="4389120"/>
            <a:ext cx="3210458" cy="1554480"/>
          </a:xfrm>
          <a:prstGeom prst="roundRect">
            <a:avLst>
              <a:gd name="adj" fmla="val 12000"/>
            </a:avLst>
          </a:prstGeom>
          <a:solidFill>
            <a:srgbClr val="1C1C1E">
              <a:alpha val="40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432596" y="4754880"/>
            <a:ext cx="256032" cy="256032"/>
          </a:xfrm>
          <a:prstGeom prst="ellipse">
            <a:avLst/>
          </a:prstGeom>
          <a:solidFill>
            <a:srgbClr val="FF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44076" y="4681728"/>
            <a:ext cx="22960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375F"/>
                </a:solidFill>
                <a:latin typeface="Inter"/>
              </a:rPr>
              <a:t>Backend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0884" y="5257800"/>
            <a:ext cx="257037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Inter"/>
              </a:rPr>
              <a:t>Firestore + Node.js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AI-DRIVEN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AI を、チームメイトに。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4884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B8BE"/>
                </a:solidFill>
                <a:latin typeface="Inter"/>
              </a:rPr>
              <a:t>設計・実装・レビューの全工程に AI を組み込んだ。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151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Commits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90618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0618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41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Pull Requests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6836" y="2697480"/>
            <a:ext cx="3210458" cy="137160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1A36"/>
              </a:gs>
              <a:gs pos="100000">
                <a:srgbClr val="061224"/>
              </a:gs>
            </a:gsLst>
            <a:lin scaled="0" ang="144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66836" y="2834640"/>
            <a:ext cx="3210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64D2FF"/>
                </a:solidFill>
                <a:latin typeface="Inter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6836" y="3657600"/>
            <a:ext cx="321045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8B8BE"/>
                </a:solidFill>
                <a:latin typeface="Inter"/>
              </a:rPr>
              <a:t>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throp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4617720"/>
            <a:ext cx="960120" cy="9601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設計ドキュメント・実装・スライドを生成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24447" y="4343400"/>
            <a:ext cx="4952847" cy="1508760"/>
          </a:xfrm>
          <a:prstGeom prst="roundRect">
            <a:avLst>
              <a:gd name="adj" fmla="val 12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oderabb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0207" y="4617720"/>
            <a:ext cx="960120" cy="9601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878927" y="4617720"/>
            <a:ext cx="31240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78927" y="5074920"/>
            <a:ext cx="312404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i="0">
                <a:solidFill>
                  <a:srgbClr val="B8B8BE"/>
                </a:solidFill>
                <a:latin typeface="Inter"/>
              </a:rPr>
              <a:t>全 PR を日本語で自動レビュー（8 PR で指摘・改善）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608076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8E8E93"/>
                </a:solidFill>
                <a:latin typeface="Inter"/>
              </a:rPr>
              <a:t>CodeRabbit 実績: コードデリバリ 86% 高速化 / レビュー指摘 60% 削減  ―  claude.com/ja/customers/coderabbit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3つの収益エンジン。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A84FF"/>
              </a:gs>
              <a:gs pos="100000">
                <a:srgbClr val="005CD7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B2B SaaS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アーティスト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インサイト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身体反応ヒートマップを提供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80160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0A84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A84FF"/>
                </a:solidFill>
                <a:latin typeface="Inter"/>
              </a:rPr>
              <a:t>月額サブスク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05858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05858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30D158"/>
              </a:gs>
              <a:gs pos="100000">
                <a:srgbClr val="08A93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05858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Premium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71618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セレンディピティ</a:t>
            </a:r>
          </a:p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マッチング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1618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同じ瞬間に反応した人と出会う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71618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30D158"/>
              </a:gs>
              <a:gs pos="100000">
                <a:srgbClr val="30D158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71618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30D158"/>
                </a:solidFill>
                <a:latin typeface="Inter"/>
              </a:rPr>
              <a:t>プレミアム課金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7316" y="2514600"/>
            <a:ext cx="3179978" cy="3657600"/>
          </a:xfrm>
          <a:prstGeom prst="roundRect">
            <a:avLst>
              <a:gd name="adj" fmla="val 14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97316" y="2514600"/>
            <a:ext cx="3179978" cy="822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FF9F0A"/>
              </a:gs>
              <a:gs pos="100000">
                <a:srgbClr val="D77700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97316" y="2514600"/>
            <a:ext cx="3179978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Inter"/>
              </a:rPr>
              <a:t>P2P Tips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3076" y="3611880"/>
            <a:ext cx="244845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FFFFFF"/>
                </a:solidFill>
                <a:latin typeface="Inter"/>
              </a:rPr>
              <a:t>チップ循環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63076" y="4617720"/>
            <a:ext cx="244845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B8B8BE"/>
                </a:solidFill>
                <a:latin typeface="Inter"/>
              </a:rPr>
              <a:t>発見者を可視化し直接還元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63076" y="5440680"/>
            <a:ext cx="2448458" cy="36576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FF9F0A"/>
              </a:gs>
              <a:gs pos="100000">
                <a:srgbClr val="FF9F0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63076" y="5577840"/>
            <a:ext cx="244845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9F0A"/>
                </a:solidFill>
                <a:latin typeface="Inter"/>
              </a:rPr>
              <a:t>マージン 10%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TEAM &amp;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6012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Inter"/>
              </a:rPr>
              <a:t>実装済み、実機で動く。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965960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103628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8E8E93"/>
                </a:solidFill>
                <a:latin typeface="Inter"/>
              </a:rPr>
              <a:t>Team Othello — PM / iOS / Backend / ML・Design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926080"/>
            <a:ext cx="4952847" cy="3108960"/>
          </a:xfrm>
          <a:prstGeom prst="roundRect">
            <a:avLst>
              <a:gd name="adj" fmla="val 14000"/>
            </a:avLst>
          </a:prstGeom>
          <a:gradFill rotWithShape="1">
            <a:gsLst>
              <a:gs pos="0">
                <a:srgbClr val="062412"/>
              </a:gs>
              <a:gs pos="100000">
                <a:srgbClr val="04120A"/>
              </a:gs>
            </a:gsLst>
            <a:lin scaled="0" ang="138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30D158"/>
                </a:solidFill>
                <a:latin typeface="Inter"/>
              </a:rPr>
              <a:t>✓  実装済み (P0)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曲再生 × MusicKit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時刻同期歌詞 (Musixmatch)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歌詞タップ → AI対話 (Claude)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HowCard 生成・保存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FFFFFF"/>
                </a:solidFill>
                <a:latin typeface="Inter"/>
              </a:rPr>
              <a:t>Groove レベル表示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24447" y="2926080"/>
            <a:ext cx="4952847" cy="3108960"/>
          </a:xfrm>
          <a:prstGeom prst="roundRect">
            <a:avLst>
              <a:gd name="adj" fmla="val 12000"/>
            </a:avLst>
          </a:prstGeom>
          <a:solidFill>
            <a:srgbClr val="1C1C1E">
              <a:alpha val="3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81647" y="3154680"/>
            <a:ext cx="403844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8E8E93"/>
                </a:solidFill>
                <a:latin typeface="Inter"/>
              </a:rPr>
              <a:t>○  意図的にスコープ外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1647" y="3749039"/>
            <a:ext cx="403844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DM・フォロー・タイムライン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Spotify 連携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完全な認証フロー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AirPods 必須のセンサー精度</a:t>
            </a:r>
          </a:p>
          <a:p>
            <a:pPr>
              <a:lnSpc>
                <a:spcPct val="140000"/>
              </a:lnSpc>
            </a:pPr>
            <a:r>
              <a:rPr sz="1600" b="0">
                <a:solidFill>
                  <a:srgbClr val="8E8E93"/>
                </a:solidFill>
                <a:latin typeface="Inter"/>
              </a:rPr>
              <a:t>教師データ収集アプリ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音楽は、</a:t>
            </a:r>
          </a:p>
          <a:p>
            <a:pPr algn="l">
              <a:lnSpc>
                <a:spcPct val="105000"/>
              </a:lnSpc>
            </a:pPr>
            <a:r>
              <a:rPr sz="7800" b="1" i="0">
                <a:solidFill>
                  <a:srgbClr val="FFFFFF"/>
                </a:solidFill>
                <a:latin typeface="Inter"/>
              </a:rPr>
              <a:t>どう聴くかだ。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4434840"/>
            <a:ext cx="3291840" cy="64008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709160"/>
            <a:ext cx="103628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8B8BE"/>
                </a:solidFill>
                <a:latin typeface="Inter"/>
              </a:rPr>
              <a:t>歌詞が、あなたの How を語り始める。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628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8E8E93"/>
                </a:solidFill>
                <a:latin typeface="Inter"/>
              </a:rPr>
              <a:t>HowTune   ·   Team Othello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502920"/>
            <a:ext cx="1036289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3628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参考資料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960120" y="1874519"/>
            <a:ext cx="237744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514600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2761488"/>
            <a:ext cx="640080" cy="640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240280" y="2743200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× Claude 顧客事例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40280" y="3172968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claude.com/ja/customers/coderabbit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858768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nthrop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4105656"/>
            <a:ext cx="640080" cy="640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240280" y="4087368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Claude Code — AI ペアプログラミング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4517136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claude.com/claude-code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202936"/>
            <a:ext cx="10362895" cy="1143000"/>
          </a:xfrm>
          <a:prstGeom prst="roundRect">
            <a:avLst>
              <a:gd name="adj" fmla="val 12000"/>
            </a:avLst>
          </a:prstGeom>
          <a:solidFill>
            <a:srgbClr val="1C1C1E">
              <a:alpha val="42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derabb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5449824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240280" y="5431536"/>
            <a:ext cx="85340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Inter"/>
              </a:rPr>
              <a:t>CodeRabbit — AI コードレビュー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5861304"/>
            <a:ext cx="8534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64D2FF"/>
                </a:solidFill>
                <a:latin typeface="Inter"/>
              </a:rPr>
              <a:t>coderabbit.ai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Q1: AirPods がないと精度が落ちる？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AirPods はサプリメントに降格済み (ADR-0005)。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デモは iPhone 単体で完全動作。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音量 × 本体モーションで Groove を算出。AirPods 接続時は精度が上がるが必須ではない。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ロードマップ: 音量 → AirPods → 個人最適化。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Q2: 音楽・歌詞のライセンスは？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Apple MusicKit で再生 = ライセンス取得済み。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音源は保持・配信せず MusicKit に委任。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歌詞は Musixmatch API（商用時は有償プラン）。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Claude API はバックエンド経由でキーを秘匿。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Q3: ML の精度は現実的？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MVP はルールベース。精度より体験を優先。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volume × 0.42 + motion × 0.58。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誇大な精度は主張しない。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AI対話の回答 → ラベル → Create ML で精度向上。使うほど賢くなる。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Q4: スケールするか / 模倣されないか？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データモートとネットワーク効果。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「歌詞 × 身体反応 × AI対話」のラベル付きデータは、後発が追うのに同量のユーザー時間が必要。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同じ歌詞に反応した人が増えるほど、マッチング価値が上がる。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Q5: 心拍・身体データのプライバシーは？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プライバシーを設計の中心に。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心拍は HealthKit 端末内に留め、Firestore には書き込まない。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LLM キーはバックエンド経由 (ADR-0002)。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最小権限・明示同意・削除手段を非機能要件に定義。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61224"/>
              </a:gs>
              <a:gs pos="100000">
                <a:srgbClr val="000000"/>
              </a:gs>
            </a:gsLst>
            <a:lin scaled="0" ang="13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27432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A84FF"/>
                </a:solidFill>
                <a:latin typeface="Inter"/>
              </a:rPr>
              <a:t>Q&amp;A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868680"/>
            <a:ext cx="10362895" cy="1188720"/>
          </a:xfrm>
          <a:prstGeom prst="roundRect">
            <a:avLst>
              <a:gd name="adj" fmla="val 10000"/>
            </a:avLst>
          </a:prstGeom>
          <a:solidFill>
            <a:srgbClr val="1C1C1E">
              <a:alpha val="45000"/>
            </a:srgbClr>
          </a:solidFill>
          <a:ln w="12700">
            <a:solidFill>
              <a:srgbClr val="FFFFFF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868680"/>
            <a:ext cx="963137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Inter"/>
              </a:rPr>
              <a:t>Q6: なぜ今、なぜこのチーム？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86000"/>
            <a:ext cx="2743200" cy="54864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0A84FF"/>
              </a:gs>
              <a:gs pos="100000">
                <a:srgbClr val="64D2FF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A. タイミング・技術・チームが揃った。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/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64D2FF"/>
                </a:solidFill>
                <a:latin typeface="Inter"/>
              </a:rPr>
              <a:t>AIがスキルをコモディティ化した直後 — 「How」のSNSはまだ無い。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Apple Ecosystem × Claude が今が最良の組み合わせ。</a:t>
            </a:r>
          </a:p>
          <a:p>
            <a:pPr>
              <a:lnSpc>
                <a:spcPct val="145000"/>
              </a:lnSpc>
            </a:pPr>
            <a:r>
              <a:rPr sz="1700" b="0">
                <a:solidFill>
                  <a:srgbClr val="FFFFFF"/>
                </a:solidFill>
                <a:latin typeface="Inter"/>
              </a:rPr>
              <a:t>PM / iOS / Backend / ML の4専門職で、3日で動くものを作った。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