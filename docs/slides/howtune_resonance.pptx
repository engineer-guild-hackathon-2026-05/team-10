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A0806"/>
              </a:gs>
              <a:gs pos="100000">
                <a:srgbClr val="000000"/>
              </a:gs>
            </a:gsLst>
            <a:lin scaled="0" ang="13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Inter"/>
              </a:rPr>
              <a:t>How Resonance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291840"/>
            <a:ext cx="32918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A1A"/>
              </a:gs>
              <a:gs pos="100000">
                <a:srgbClr val="FF375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8B8BE"/>
                </a:solidFill>
                <a:latin typeface="Inter"/>
              </a:rPr>
              <a:t>同じ瞬間に、火がつく。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E8E93"/>
                </a:solidFill>
                <a:latin typeface="Inter"/>
              </a:rPr>
              <a:t>曲の「この一点」で反応した人と、リアルタイムにつながる。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  <a:latin typeface="Inter"/>
              </a:rPr>
              <a:t>HowTune  ·  Team Othello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scaled="0" ang="13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A1A"/>
                </a:solidFill>
                <a:latin typeface="Inter"/>
              </a:rPr>
              <a:t>THE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Inter"/>
              </a:rPr>
              <a:t>一番動いた瞬間を、捉える。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920240"/>
            <a:ext cx="23774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A1A"/>
              </a:gs>
              <a:gs pos="100000">
                <a:srgbClr val="FF375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8B8BE"/>
                </a:solidFill>
                <a:latin typeface="Inter"/>
              </a:rPr>
              <a:t>AirPods の頭部モーションから、再生中に最も大きく動いた瞬間を記録。MLは回さない。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10362895" cy="13716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061A36"/>
              </a:gs>
              <a:gs pos="100000">
                <a:srgbClr val="06122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28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64D2FF"/>
                </a:solidFill>
                <a:latin typeface="Inter"/>
              </a:rPr>
              <a:t>peak = max(interactionIntensity) → その playbackTime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E8E93"/>
                </a:solidFill>
                <a:latin typeface="Inter"/>
              </a:rPr>
              <a:t>1回目は決めうちで「ここ、どうでしたか？」。スケール時に分類モデルへ寄せる前提。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scaled="0" ang="13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A1A"/>
                </a:solidFill>
                <a:latin typeface="Inter"/>
              </a:rPr>
              <a:t>ASK → DEEPEN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Inter"/>
              </a:rPr>
              <a:t>決めうち → AIで深掘り。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920240"/>
            <a:ext cx="23774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A1A"/>
              </a:gs>
              <a:gs pos="100000">
                <a:srgbClr val="FF375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3210458" cy="2194560"/>
          </a:xfrm>
          <a:prstGeom prst="roundRect">
            <a:avLst>
              <a:gd name="adj" fmla="val 14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32104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84F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Inter"/>
              </a:rPr>
              <a:t>ピーク地点を提示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9589" y="3931920"/>
            <a:ext cx="64008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84FF"/>
              </a:gs>
              <a:gs pos="100000">
                <a:srgbClr val="0A84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2844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B8B8BE"/>
                </a:solidFill>
                <a:latin typeface="Inter"/>
              </a:rPr>
              <a:t>「M:SS で一番動いていました」固定文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0618" y="2651760"/>
            <a:ext cx="3210458" cy="2194560"/>
          </a:xfrm>
          <a:prstGeom prst="roundRect">
            <a:avLst>
              <a:gd name="adj" fmla="val 14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0618" y="2880360"/>
            <a:ext cx="32104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F5AF2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9184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Inter"/>
              </a:rPr>
              <a:t>AIが深掘り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75807" y="3931920"/>
            <a:ext cx="64008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F5AF2"/>
              </a:gs>
              <a:gs pos="100000">
                <a:srgbClr val="BF5AF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3498" y="4114800"/>
            <a:ext cx="2844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B8B8BE"/>
                </a:solidFill>
                <a:latin typeface="Inter"/>
              </a:rPr>
              <a:t>Claude が文脈を踏まえ詳細に問う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6836" y="2651760"/>
            <a:ext cx="3210458" cy="2194560"/>
          </a:xfrm>
          <a:prstGeom prst="roundRect">
            <a:avLst>
              <a:gd name="adj" fmla="val 14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6836" y="2880360"/>
            <a:ext cx="32104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A1A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6836" y="329184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Inter"/>
              </a:rPr>
              <a:t>Howカード化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2025" y="3931920"/>
            <a:ext cx="640080" cy="457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A1A"/>
              </a:gs>
              <a:gs pos="100000">
                <a:srgbClr val="FF6A1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9716" y="4114800"/>
            <a:ext cx="28446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B8B8BE"/>
                </a:solidFill>
                <a:latin typeface="Inter"/>
              </a:rPr>
              <a:t>コメント + タグで投稿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A0806"/>
              </a:gs>
              <a:gs pos="100000">
                <a:srgbClr val="000000"/>
              </a:gs>
            </a:gsLst>
            <a:lin scaled="0" ang="13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A1A"/>
                </a:solidFill>
                <a:latin typeface="Inter"/>
              </a:rPr>
              <a:t>RESONANCE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Inter"/>
              </a:rPr>
              <a:t>同じ瞬間に、誰かが現れる。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011680"/>
            <a:ext cx="274320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A1A"/>
              </a:gs>
              <a:gs pos="100000">
                <a:srgbClr val="FF375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0">
                <a:solidFill>
                  <a:srgbClr val="B8B8BE"/>
                </a:solidFill>
                <a:latin typeface="Inter"/>
              </a:rPr>
              <a:t>分子がふわっと現れ、摩擦で熱を帯び、発火する——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FF6A1A"/>
                </a:solidFill>
                <a:latin typeface="Inter"/>
              </a:rPr>
              <a:t>🔥 同じ瞬間に反応した人がリアルタイムに出現</a:t>
            </a:r>
          </a:p>
          <a:p>
            <a:pPr>
              <a:lnSpc>
                <a:spcPct val="150000"/>
              </a:lnSpc>
            </a:pPr>
            <a:r>
              <a:rPr sz="1800" b="0">
                <a:solidFill>
                  <a:srgbClr val="64D2FF"/>
                </a:solidFill>
                <a:latin typeface="Inter"/>
              </a:rPr>
              <a:t>✦ 別の場所で反応した人も見える（違う解釈との出会い）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8E93"/>
                </a:solidFill>
                <a:latin typeface="Inter"/>
              </a:rPr>
              <a:t>Firestore リアルタイム購読（ADR-0006）。how-cards を song_id で購読し ±2.5秒で同地点判定。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scaled="0" ang="13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A1A"/>
                </a:solidFill>
                <a:latin typeface="Inter"/>
              </a:rPr>
              <a:t>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Inter"/>
              </a:rPr>
              <a:t>熱量が、つながる。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920240"/>
            <a:ext cx="23774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A1A"/>
              </a:gs>
              <a:gs pos="100000">
                <a:srgbClr val="FF375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4952847" cy="310896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2A1006"/>
              </a:gs>
              <a:gs pos="100000">
                <a:srgbClr val="2A0806"/>
              </a:gs>
            </a:gsLst>
            <a:lin scaled="0" ang="13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4038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A1A"/>
                </a:solidFill>
                <a:latin typeface="Inter"/>
              </a:rPr>
              <a:t>🔥 同地点マッチ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403844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同じ瞬間に火がついた相手と</a:t>
            </a: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そのままリアルタイム DM</a:t>
            </a: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/>
            </a: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通常画面でも🔥マークで再会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468880"/>
            <a:ext cx="4952847" cy="3108960"/>
          </a:xfrm>
          <a:prstGeom prst="roundRect">
            <a:avLst>
              <a:gd name="adj" fmla="val 14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1647" y="2743200"/>
            <a:ext cx="4038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4D2FF"/>
                </a:solidFill>
                <a:latin typeface="Inter"/>
              </a:rPr>
              <a:t>速さへのこだわり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647" y="3383280"/>
            <a:ext cx="403844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楽観的更新（送信即反映）</a:t>
            </a: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Firestore スナップショット購読</a:t>
            </a: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参加者のみ read/write（rules）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224"/>
              </a:gs>
              <a:gs pos="100000">
                <a:srgbClr val="000000"/>
              </a:gs>
            </a:gsLst>
            <a:lin scaled="0" ang="13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6289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A1A"/>
                </a:solidFill>
                <a:latin typeface="Inter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Inter"/>
              </a:rPr>
              <a:t>壊さず、足す。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920240"/>
            <a:ext cx="23774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A1A"/>
              </a:gs>
              <a:gs pos="100000">
                <a:srgbClr val="FF375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4998567" cy="1371600"/>
          </a:xfrm>
          <a:prstGeom prst="roundRect">
            <a:avLst>
              <a:gd name="adj" fmla="val 14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907792"/>
            <a:ext cx="237744" cy="237744"/>
          </a:xfrm>
          <a:prstGeom prst="ellipse">
            <a:avLst/>
          </a:prstGeom>
          <a:solidFill>
            <a:srgbClr val="0A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834640"/>
            <a:ext cx="40841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84FF"/>
                </a:solidFill>
                <a:latin typeface="Inter"/>
              </a:rPr>
              <a:t>Peak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337560"/>
            <a:ext cx="4358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B8BE"/>
                </a:solidFill>
                <a:latin typeface="Inter"/>
              </a:rPr>
              <a:t>interactionIntensity ピーク（ML不使用）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560320"/>
            <a:ext cx="4998567" cy="1371600"/>
          </a:xfrm>
          <a:prstGeom prst="roundRect">
            <a:avLst>
              <a:gd name="adj" fmla="val 14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4487" y="2907792"/>
            <a:ext cx="237744" cy="237744"/>
          </a:xfrm>
          <a:prstGeom prst="ellipse">
            <a:avLst/>
          </a:prstGeom>
          <a:solidFill>
            <a:srgbClr val="BF5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5967" y="2834640"/>
            <a:ext cx="40841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5AF2"/>
                </a:solidFill>
                <a:latin typeface="Inter"/>
              </a:rPr>
              <a:t>LLM 深掘り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2775" y="3337560"/>
            <a:ext cx="4358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B8BE"/>
                </a:solidFill>
                <a:latin typeface="Inter"/>
              </a:rPr>
              <a:t>既存 Claude 経路を2回目に活用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51960"/>
            <a:ext cx="4998567" cy="1371600"/>
          </a:xfrm>
          <a:prstGeom prst="roundRect">
            <a:avLst>
              <a:gd name="adj" fmla="val 14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4599432"/>
            <a:ext cx="237744" cy="237744"/>
          </a:xfrm>
          <a:prstGeom prst="ellipse">
            <a:avLst/>
          </a:prstGeom>
          <a:solidFill>
            <a:srgbClr val="FF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526280"/>
            <a:ext cx="40841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A1A"/>
                </a:solidFill>
                <a:latin typeface="Inter"/>
              </a:rPr>
              <a:t>Realtime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029200"/>
            <a:ext cx="4358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B8BE"/>
                </a:solidFill>
                <a:latin typeface="Inter"/>
              </a:rPr>
              <a:t>Firestore 購読 + 楽観的DM（ADR-0006）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4251960"/>
            <a:ext cx="4998567" cy="1371600"/>
          </a:xfrm>
          <a:prstGeom prst="roundRect">
            <a:avLst>
              <a:gd name="adj" fmla="val 14000"/>
            </a:avLst>
          </a:prstGeom>
          <a:solidFill>
            <a:srgbClr val="1C1C1E">
              <a:alpha val="45000"/>
            </a:srgbClr>
          </a:solidFill>
          <a:ln w="12700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4487" y="4599432"/>
            <a:ext cx="237744" cy="237744"/>
          </a:xfrm>
          <a:prstGeom prst="ellipse">
            <a:avLst/>
          </a:prstGeom>
          <a:solidFill>
            <a:srgbClr val="30D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5967" y="4526280"/>
            <a:ext cx="40841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0D158"/>
                </a:solidFill>
                <a:latin typeface="Inter"/>
              </a:rPr>
              <a:t>非破壊統合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2775" y="5029200"/>
            <a:ext cx="4358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B8BE"/>
                </a:solidFill>
                <a:latin typeface="Inter"/>
              </a:rPr>
              <a:t>optional 引数で既存挙動を不変に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A0806"/>
              </a:gs>
              <a:gs pos="100000">
                <a:srgbClr val="000000"/>
              </a:gs>
            </a:gsLst>
            <a:lin scaled="0" ang="13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5800" b="1" i="0">
                <a:solidFill>
                  <a:srgbClr val="FFFFFF"/>
                </a:solidFill>
                <a:latin typeface="Inter"/>
              </a:rPr>
              <a:t>同じ瞬間に、</a:t>
            </a:r>
          </a:p>
          <a:p>
            <a:pPr algn="l">
              <a:lnSpc>
                <a:spcPct val="108000"/>
              </a:lnSpc>
            </a:pPr>
            <a:r>
              <a:rPr sz="5800" b="1" i="0">
                <a:solidFill>
                  <a:srgbClr val="FFFFFF"/>
                </a:solidFill>
                <a:latin typeface="Inter"/>
              </a:rPr>
              <a:t>火がつく。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297680"/>
            <a:ext cx="3291840" cy="6400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6A1A"/>
              </a:gs>
              <a:gs pos="100000">
                <a:srgbClr val="FF375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8B8BE"/>
                </a:solidFill>
                <a:latin typeface="Inter"/>
              </a:rPr>
              <a:t>What ではなく How。曲のこの一点で、人とつながる。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8E93"/>
                </a:solidFill>
                <a:latin typeface="Inter"/>
              </a:rPr>
              <a:t>HowTune  ·  Team Othello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