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>
        <p:scale>
          <a:sx n="129" d="100"/>
          <a:sy n="129" d="100"/>
        </p:scale>
        <p:origin x="480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9E648-FCE0-574B-B355-71E0F50056E6}" type="datetimeFigureOut">
              <a:rPr lang="en-JP" smtClean="0"/>
              <a:t>2026/05/26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ED80D-BAC9-5D44-B6C3-E3008C1156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7830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ED80D-BAC9-5D44-B6C3-E3008C1156DA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7785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 dirty="0">
                <a:solidFill>
                  <a:srgbClr val="FFFFFF"/>
                </a:solidFill>
                <a:latin typeface="Inter"/>
              </a:rPr>
              <a:t>Spec-Driven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383280"/>
            <a:ext cx="32918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8B8BE"/>
                </a:solidFill>
                <a:latin typeface="Inter"/>
              </a:rPr>
              <a:t>事実で語る、3日間の開発プロセス。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8E93"/>
                </a:solidFill>
                <a:latin typeface="Inter"/>
              </a:rPr>
              <a:t>盛らない。全てリポジトリで検証可能な証跡。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  <a:latin typeface="Inter"/>
              </a:rPr>
              <a:t>HowTune  ·  Team Othello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Inter"/>
              </a:rP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Inter"/>
              </a:rPr>
              <a:t>証跡は、全部ある。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874519"/>
            <a:ext cx="237744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2316403" cy="246888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3164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A84FF"/>
                </a:solidFill>
                <a:latin typeface="Inter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3164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機能スペック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60520"/>
            <a:ext cx="20420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B8B8BE"/>
                </a:solidFill>
                <a:latin typeface="Inter"/>
              </a:rPr>
              <a:t>requirements→design→tasklist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6563" y="2468880"/>
            <a:ext cx="2316403" cy="246888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6563" y="2697480"/>
            <a:ext cx="23164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BF5AF2"/>
                </a:solidFill>
                <a:latin typeface="Inter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6563" y="3657600"/>
            <a:ext cx="23164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4160520"/>
            <a:ext cx="20420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B8B8BE"/>
                </a:solidFill>
                <a:latin typeface="Inter"/>
              </a:rPr>
              <a:t>不可逆な意思決定の記録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468880"/>
            <a:ext cx="2316403" cy="246888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8727" y="2697480"/>
            <a:ext cx="23164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0D158"/>
                </a:solidFill>
                <a:latin typeface="Inter"/>
              </a:rPr>
              <a:t>132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657600"/>
            <a:ext cx="23164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タスク完了管理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4160520"/>
            <a:ext cx="20420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B8B8BE"/>
                </a:solidFill>
                <a:latin typeface="Inter"/>
              </a:rPr>
              <a:t>未完了ゼロ・振り返り記述済み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0891" y="2468880"/>
            <a:ext cx="2316403" cy="246888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0891" y="2697480"/>
            <a:ext cx="23164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9F0A"/>
                </a:solidFill>
                <a:latin typeface="Inter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0891" y="3657600"/>
            <a:ext cx="23164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永続ドキュメント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051" y="4160520"/>
            <a:ext cx="20420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B8B8BE"/>
                </a:solidFill>
                <a:latin typeface="Inter"/>
              </a:rPr>
              <a:t>実装に同期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8B8BE"/>
                </a:solidFill>
                <a:latin typeface="Inter"/>
              </a:rPr>
              <a:t>すべて .steering/ と docs/ にコミット済み。git log で時系列まで追える。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Inter"/>
              </a:rPr>
              <a:t>HOW WE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Inter"/>
              </a:rPr>
              <a:t>1機能 = 1スペックの流れ。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874519"/>
            <a:ext cx="274320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2282113" cy="21945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101016"/>
              </a:gs>
              <a:gs pos="100000">
                <a:srgbClr val="06162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282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84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FFFFFF"/>
                </a:solidFill>
                <a:latin typeface="Inter"/>
              </a:rP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5416" y="388620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0A84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B8BE"/>
                </a:solidFill>
                <a:latin typeface="Inter"/>
              </a:rPr>
              <a:t>何を・なぜ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4801" y="3429000"/>
            <a:ext cx="374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84FF"/>
                </a:solidFill>
                <a:latin typeface="Inte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7993" y="2560320"/>
            <a:ext cx="2282113" cy="21945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101016"/>
              </a:gs>
              <a:gs pos="100000">
                <a:srgbClr val="06162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7993" y="2788920"/>
            <a:ext cx="2282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D2FF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320040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FFFFFF"/>
                </a:solidFill>
                <a:latin typeface="Inter"/>
              </a:rPr>
              <a:t>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9010" y="388620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4D2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7993" y="406908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B8BE"/>
                </a:solidFill>
                <a:latin typeface="Inter"/>
              </a:rPr>
              <a:t>どう作るか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8395" y="3429000"/>
            <a:ext cx="374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84FF"/>
                </a:solidFill>
                <a:latin typeface="Inte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1587" y="2560320"/>
            <a:ext cx="2282113" cy="21945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101016"/>
              </a:gs>
              <a:gs pos="100000">
                <a:srgbClr val="06162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1587" y="2788920"/>
            <a:ext cx="2282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20040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 err="1">
                <a:solidFill>
                  <a:srgbClr val="FFFFFF"/>
                </a:solidFill>
                <a:latin typeface="Inter"/>
              </a:rPr>
              <a:t>tasklist</a:t>
            </a:r>
            <a:endParaRPr sz="1900" b="1" i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22604" y="388620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0D158"/>
              </a:gs>
              <a:gs pos="100000">
                <a:srgbClr val="30D15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1587" y="406908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B8BE"/>
                </a:solidFill>
                <a:latin typeface="Inter"/>
              </a:rPr>
              <a:t>分解して管理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1989" y="3429000"/>
            <a:ext cx="374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84FF"/>
                </a:solidFill>
                <a:latin typeface="Inter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5181" y="2560320"/>
            <a:ext cx="2282113" cy="21945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101016"/>
              </a:gs>
              <a:gs pos="100000">
                <a:srgbClr val="06162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5181" y="2788920"/>
            <a:ext cx="2282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F0A"/>
                </a:solidFill>
                <a:latin typeface="Int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5181" y="320040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 err="1">
                <a:solidFill>
                  <a:srgbClr val="FFFFFF"/>
                </a:solidFill>
                <a:latin typeface="Inter"/>
              </a:rPr>
              <a:t>振り返り</a:t>
            </a:r>
            <a:endParaRPr sz="1900" b="1" i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816198" y="388620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9F0A"/>
              </a:gs>
              <a:gs pos="100000">
                <a:srgbClr val="FF9F0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95181" y="4069080"/>
            <a:ext cx="2282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B8BE"/>
                </a:solidFill>
                <a:latin typeface="Inter"/>
              </a:rPr>
              <a:t>計画との差分を記録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8B8BE"/>
                </a:solidFill>
                <a:latin typeface="Inter"/>
              </a:rPr>
              <a:t>振り返りの「計画と異なった点」まで全スペックに実記述 — 逸脱を隠さず残す。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Inter"/>
              </a:rPr>
              <a:t>COVERAGE —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コア体験に、SDDを集中。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874519"/>
            <a:ext cx="237744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4952847" cy="338328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62412"/>
              </a:gs>
              <a:gs pos="100000">
                <a:srgbClr val="04120A"/>
              </a:gs>
            </a:gsLst>
            <a:lin ang="13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4038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0D158"/>
                </a:solidFill>
                <a:latin typeface="Inter"/>
              </a:rPr>
              <a:t>✓  証跡あり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40384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歌詞表示UI  (lyrics-ui)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AirPods反応検出  (airpods-interaction)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AI深掘り対話  (how-chat-deepening)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コメント/認証  (firestore-comments-auth)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収益モデル  (revenue-model)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コード品質監査  (code-quality-audit)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468880"/>
            <a:ext cx="4952847" cy="3383280"/>
          </a:xfrm>
          <a:prstGeom prst="roundRect">
            <a:avLst>
              <a:gd name="adj" fmla="val 12000"/>
            </a:avLst>
          </a:prstGeom>
          <a:solidFill>
            <a:srgbClr val="1C1C1E">
              <a:alpha val="3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1647" y="2697480"/>
            <a:ext cx="4038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E8E93"/>
                </a:solidFill>
                <a:latin typeface="Inter"/>
              </a:rPr>
              <a:t>○  スペックなし（意図的）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3291840"/>
            <a:ext cx="40384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8E8E93"/>
                </a:solidFill>
                <a:latin typeface="Inter"/>
              </a:rPr>
              <a:t>MusicFeed / ForYou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8E8E93"/>
                </a:solidFill>
                <a:latin typeface="Inter"/>
              </a:rPr>
              <a:t>NowPlaying / ClipCreation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8E8E93"/>
                </a:solidFill>
                <a:latin typeface="Inter"/>
              </a:rPr>
              <a:t>Onboarding</a:t>
            </a:r>
          </a:p>
          <a:p>
            <a:pPr>
              <a:lnSpc>
                <a:spcPct val="145000"/>
              </a:lnSpc>
            </a:pPr>
            <a:endParaRPr sz="1500" b="0">
              <a:solidFill>
                <a:srgbClr val="8E8E93"/>
              </a:solidFill>
              <a:latin typeface="Inter"/>
            </a:endParaRP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B8B8BE"/>
                </a:solidFill>
                <a:latin typeface="Inter"/>
              </a:rPr>
              <a:t>→ フィード系UIはMVP優先で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B8B8BE"/>
                </a:solidFill>
                <a:latin typeface="Inter"/>
              </a:rPr>
              <a:t>　コア体験にリソースを集中した判断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4D2FF"/>
                </a:solidFill>
                <a:latin typeface="Inter"/>
              </a:rPr>
              <a:t>「全機能」ではなく「コア体験の全機能」— ここが事実。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Inter"/>
              </a:rPr>
              <a:t>SPEC &lt;-&gt;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仕様は、実装と紐づく。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874519"/>
            <a:ext cx="237744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10362895" cy="118872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61A36"/>
              </a:gs>
              <a:gs pos="100000">
                <a:srgbClr val="0612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64D2FF"/>
                </a:solidFill>
                <a:latin typeface="Inter"/>
              </a:rP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14600"/>
            <a:ext cx="67052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Inter"/>
              </a:rPr>
              <a:t>仕様が名指しした主要コンポーネントは、すべて実コードに存在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94760"/>
            <a:ext cx="4952847" cy="2011680"/>
          </a:xfrm>
          <a:prstGeom prst="roundRect">
            <a:avLst>
              <a:gd name="adj" fmla="val 12000"/>
            </a:avLst>
          </a:prstGeom>
          <a:solidFill>
            <a:srgbClr val="1C1C1E">
              <a:alpha val="40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4023360"/>
            <a:ext cx="4129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D158"/>
                </a:solidFill>
                <a:latin typeface="Inter"/>
              </a:rPr>
              <a:t>✓ 挙動まで一致（直近機能）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572000"/>
            <a:ext cx="41298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ターン数 = 2 (maximumDialogueTurns)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ReactionEvent.score フィールド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ChatPayload.dominantAxis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CMHeadphoneMotionManager 実使用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3794760"/>
            <a:ext cx="4952847" cy="2011680"/>
          </a:xfrm>
          <a:prstGeom prst="roundRect">
            <a:avLst>
              <a:gd name="adj" fmla="val 12000"/>
            </a:avLst>
          </a:prstGeom>
          <a:solidFill>
            <a:srgbClr val="1C1C1E">
              <a:alpha val="40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5927" y="4023360"/>
            <a:ext cx="41298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0A"/>
                </a:solidFill>
                <a:latin typeface="Inter"/>
              </a:rPr>
              <a:t>△ 実装が追い越した（初期UI）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5927" y="4572000"/>
            <a:ext cx="41298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8B8BE"/>
                </a:solidFill>
                <a:latin typeface="Inter"/>
              </a:rPr>
              <a:t>初日の歌詞UI仕様の一部設計は、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B8B8BE"/>
                </a:solidFill>
                <a:latin typeface="Inter"/>
              </a:rPr>
              <a:t>その後のHomeView作り直しで変更</a:t>
            </a:r>
          </a:p>
          <a:p>
            <a:pPr>
              <a:lnSpc>
                <a:spcPct val="135000"/>
              </a:lnSpc>
            </a:pPr>
            <a:endParaRPr sz="1300" b="0">
              <a:solidFill>
                <a:srgbClr val="B8B8BE"/>
              </a:solidFill>
              <a:latin typeface="Inter"/>
            </a:endParaRP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B8B8BE"/>
                </a:solidFill>
                <a:latin typeface="Inter"/>
              </a:rPr>
              <a:t>→ 逸脱は振り返りに記録済み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6304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Inter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適応型SDD × AI。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874519"/>
            <a:ext cx="237744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8B8BE"/>
                </a:solidFill>
                <a:latin typeface="Inter"/>
              </a:rPr>
              <a:t>3日に最適化した軽量プロセス。重い仕様書を先に固めるのではなく——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88920"/>
            <a:ext cx="3210458" cy="182880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3063240"/>
            <a:ext cx="237744" cy="237744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64208" y="3017520"/>
            <a:ext cx="22960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84FF"/>
                </a:solidFill>
                <a:latin typeface="Inter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611880"/>
            <a:ext cx="25703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B8BE"/>
                </a:solidFill>
                <a:latin typeface="Inter"/>
              </a:rPr>
              <a:t>仕様・設計・tasklist を生成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0618" y="2788920"/>
            <a:ext cx="3210458" cy="182880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56378" y="3063240"/>
            <a:ext cx="237744" cy="237744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40426" y="3017520"/>
            <a:ext cx="22960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30D158"/>
                </a:solidFill>
                <a:latin typeface="Inter"/>
              </a:rPr>
              <a:t>steering </a:t>
            </a:r>
            <a:r>
              <a:rPr sz="1700" b="1" i="0" dirty="0" err="1">
                <a:solidFill>
                  <a:srgbClr val="30D158"/>
                </a:solidFill>
                <a:latin typeface="Inter"/>
              </a:rPr>
              <a:t>スキル</a:t>
            </a:r>
            <a:endParaRPr sz="1700" b="1" i="0" dirty="0">
              <a:solidFill>
                <a:srgbClr val="30D15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56378" y="3575304"/>
            <a:ext cx="25703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 err="1">
                <a:solidFill>
                  <a:srgbClr val="B8B8BE"/>
                </a:solidFill>
                <a:latin typeface="Inter"/>
              </a:rPr>
              <a:t>tasklist</a:t>
            </a:r>
            <a:r>
              <a:rPr sz="1400" b="0" i="0" dirty="0">
                <a:solidFill>
                  <a:srgbClr val="B8B8BE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B8B8BE"/>
                </a:solidFill>
                <a:latin typeface="Inter"/>
              </a:rPr>
              <a:t>更新を強制し進捗を可視化</a:t>
            </a:r>
            <a:endParaRPr sz="1400" b="0" i="0" dirty="0">
              <a:solidFill>
                <a:srgbClr val="B8B8BE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66836" y="2788920"/>
            <a:ext cx="3210458" cy="1828800"/>
          </a:xfrm>
          <a:prstGeom prst="roundRect">
            <a:avLst>
              <a:gd name="adj" fmla="val 12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2596" y="3063240"/>
            <a:ext cx="237744" cy="237744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16644" y="3017520"/>
            <a:ext cx="22960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0A"/>
                </a:solidFill>
                <a:latin typeface="Inter"/>
              </a:rPr>
              <a:t>CodeRabbit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884" y="3611880"/>
            <a:ext cx="25703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B8BE"/>
                </a:solidFill>
                <a:latin typeface="Inter"/>
              </a:rPr>
              <a:t>全PRを自動レビュー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8B8BE"/>
                </a:solidFill>
                <a:latin typeface="Inter"/>
              </a:rPr>
              <a:t>「</a:t>
            </a:r>
            <a:r>
              <a:rPr sz="1600" b="0" i="0" dirty="0" err="1">
                <a:solidFill>
                  <a:srgbClr val="B8B8BE"/>
                </a:solidFill>
                <a:latin typeface="Inter"/>
              </a:rPr>
              <a:t>軽量スペックで認識合わせ</a:t>
            </a:r>
            <a:r>
              <a:rPr sz="1600" b="0" i="0" dirty="0">
                <a:solidFill>
                  <a:srgbClr val="B8B8BE"/>
                </a:solidFill>
                <a:latin typeface="Inter"/>
              </a:rPr>
              <a:t> → </a:t>
            </a:r>
            <a:r>
              <a:rPr sz="1600" b="0" i="0" dirty="0" err="1">
                <a:solidFill>
                  <a:srgbClr val="B8B8BE"/>
                </a:solidFill>
                <a:latin typeface="Inter"/>
              </a:rPr>
              <a:t>実装</a:t>
            </a:r>
            <a:r>
              <a:rPr sz="1600" b="0" i="0" dirty="0">
                <a:solidFill>
                  <a:srgbClr val="B8B8BE"/>
                </a:solidFill>
                <a:latin typeface="Inter"/>
              </a:rPr>
              <a:t> → </a:t>
            </a:r>
            <a:r>
              <a:rPr sz="1600" b="0" i="0" dirty="0" err="1">
                <a:solidFill>
                  <a:srgbClr val="B8B8BE"/>
                </a:solidFill>
                <a:latin typeface="Inter"/>
              </a:rPr>
              <a:t>逸脱を記録</a:t>
            </a:r>
            <a:r>
              <a:rPr sz="1600" b="0" i="0" dirty="0">
                <a:solidFill>
                  <a:srgbClr val="B8B8BE"/>
                </a:solidFill>
                <a:latin typeface="Inter"/>
              </a:rPr>
              <a:t>」。</a:t>
            </a:r>
            <a:r>
              <a:rPr sz="1600" b="0" i="0" dirty="0" err="1">
                <a:solidFill>
                  <a:srgbClr val="B8B8BE"/>
                </a:solidFill>
                <a:latin typeface="Inter"/>
              </a:rPr>
              <a:t>不可逆な判断は</a:t>
            </a:r>
            <a:r>
              <a:rPr sz="1600" b="0" i="0" dirty="0">
                <a:solidFill>
                  <a:srgbClr val="B8B8BE"/>
                </a:solidFill>
                <a:latin typeface="Inter"/>
              </a:rPr>
              <a:t> ADR </a:t>
            </a:r>
            <a:r>
              <a:rPr sz="1600" b="0" i="0" dirty="0" err="1">
                <a:solidFill>
                  <a:srgbClr val="B8B8BE"/>
                </a:solidFill>
                <a:latin typeface="Inter"/>
              </a:rPr>
              <a:t>で理由ごと残す</a:t>
            </a:r>
            <a:r>
              <a:rPr sz="1600" b="0" i="0" dirty="0">
                <a:solidFill>
                  <a:srgbClr val="B8B8BE"/>
                </a:solidFill>
                <a:latin typeface="Inter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4D2FF"/>
                </a:solidFill>
                <a:latin typeface="Inter"/>
              </a:rPr>
              <a:t>= SDD と AI活用は、同じ1本のストーリー。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5600" b="1" i="0">
                <a:solidFill>
                  <a:srgbClr val="FFFFFF"/>
                </a:solidFill>
                <a:latin typeface="Inter"/>
              </a:rPr>
              <a:t>証跡は全部ある。</a:t>
            </a:r>
          </a:p>
          <a:p>
            <a:pPr algn="l">
              <a:lnSpc>
                <a:spcPct val="108000"/>
              </a:lnSpc>
            </a:pPr>
            <a:r>
              <a:rPr sz="5600" b="1" i="0">
                <a:solidFill>
                  <a:srgbClr val="FFFFFF"/>
                </a:solidFill>
                <a:latin typeface="Inter"/>
              </a:rPr>
              <a:t>逸脱は正直に記録。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06240"/>
            <a:ext cx="32918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64D2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8B8BE"/>
                </a:solidFill>
                <a:latin typeface="Inter"/>
              </a:rPr>
              <a:t>重要な判断は ADR に、理由ごと。— 深掘りされても崩れない。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  <a:latin typeface="Inter"/>
              </a:rPr>
              <a:t>HowTune  ·  Team Othello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287</Words>
  <Application>Microsoft Macintosh PowerPoint</Application>
  <PresentationFormat>Widescreen</PresentationFormat>
  <Paragraphs>84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Inter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Haruki Tanaka</cp:lastModifiedBy>
  <cp:revision>2</cp:revision>
  <dcterms:created xsi:type="dcterms:W3CDTF">2013-01-27T09:14:16Z</dcterms:created>
  <dcterms:modified xsi:type="dcterms:W3CDTF">2026-05-25T15:47:23Z</dcterms:modified>
  <cp:category/>
</cp:coreProperties>
</file>